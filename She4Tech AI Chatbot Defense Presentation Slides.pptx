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Bebas Neue Bold" charset="1" panose="020B0606020202050201"/>
      <p:regular r:id="rId20"/>
    </p:embeddedFont>
    <p:embeddedFont>
      <p:font typeface="DM Sans" charset="1" panose="00000000000000000000"/>
      <p:regular r:id="rId21"/>
    </p:embeddedFont>
    <p:embeddedFont>
      <p:font typeface="HK Grotesk Medium" charset="1" panose="00000600000000000000"/>
      <p:regular r:id="rId22"/>
    </p:embeddedFont>
    <p:embeddedFont>
      <p:font typeface="Anton" charset="1" panose="00000500000000000000"/>
      <p:regular r:id="rId23"/>
    </p:embeddedFont>
    <p:embeddedFont>
      <p:font typeface="HK Grotesk Bold" charset="1" panose="00000800000000000000"/>
      <p:regular r:id="rId24"/>
    </p:embeddedFont>
    <p:embeddedFont>
      <p:font typeface="Ubuntu" charset="1" panose="020B0504030602030204"/>
      <p:regular r:id="rId25"/>
    </p:embeddedFont>
    <p:embeddedFont>
      <p:font typeface="Ubuntu Bold" charset="1" panose="020B0804030602030204"/>
      <p:regular r:id="rId26"/>
    </p:embeddedFont>
    <p:embeddedFont>
      <p:font typeface="Roboto Bold" charset="1" panose="02000000000000000000"/>
      <p:regular r:id="rId27"/>
    </p:embeddedFont>
    <p:embeddedFont>
      <p:font typeface="Roboto" charset="1" panose="02000000000000000000"/>
      <p:regular r:id="rId28"/>
    </p:embeddedFont>
    <p:embeddedFont>
      <p:font typeface="Inter 1 Medium" charset="1" panose="02000503000000020004"/>
      <p:regular r:id="rId29"/>
    </p:embeddedFont>
    <p:embeddedFont>
      <p:font typeface="Antonio Ultra-Bold" charset="1" panose="02000803000000000000"/>
      <p:regular r:id="rId30"/>
    </p:embeddedFont>
    <p:embeddedFont>
      <p:font typeface="Inter 1" charset="1" panose="020B0502030000000004"/>
      <p:regular r:id="rId31"/>
    </p:embeddedFont>
    <p:embeddedFont>
      <p:font typeface="Inter 1 Bold" charset="1" panose="020B0802030000000004"/>
      <p:regular r:id="rId32"/>
    </p:embeddedFont>
    <p:embeddedFont>
      <p:font typeface="Poppins" charset="1" panose="00000500000000000000"/>
      <p:regular r:id="rId33"/>
    </p:embeddedFont>
    <p:embeddedFont>
      <p:font typeface="Poppins Bold" charset="1" panose="00000800000000000000"/>
      <p:regular r:id="rId34"/>
    </p:embeddedFont>
    <p:embeddedFont>
      <p:font typeface="Roboto Condensed Bold" charset="1" panose="02000000000000000000"/>
      <p:regular r:id="rId35"/>
    </p:embeddedFont>
    <p:embeddedFont>
      <p:font typeface="Laqonic Bold" charset="1" panose="02000503030000020004"/>
      <p:regular r:id="rId36"/>
    </p:embeddedFont>
    <p:embeddedFont>
      <p:font typeface="Inter 2" charset="1" panose="02000503000000020004"/>
      <p:regular r:id="rId37"/>
    </p:embeddedFont>
    <p:embeddedFont>
      <p:font typeface="Inter 2 Medium" charset="1" panose="02000503000000020004"/>
      <p:regular r:id="rId38"/>
    </p:embeddedFont>
    <p:embeddedFont>
      <p:font typeface="Inter 2 Bold" charset="1" panose="02000503000000020004"/>
      <p:regular r:id="rId3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38" Target="fonts/font38.fntdata" Type="http://schemas.openxmlformats.org/officeDocument/2006/relationships/font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11" Target="../media/image16.png" Type="http://schemas.openxmlformats.org/officeDocument/2006/relationships/image"/><Relationship Id="rId12" Target="../media/image17.png" Type="http://schemas.openxmlformats.org/officeDocument/2006/relationships/image"/><Relationship Id="rId2" Target="../media/image7.pn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Relationship Id="rId6" Target="../media/image11.png" Type="http://schemas.openxmlformats.org/officeDocument/2006/relationships/image"/><Relationship Id="rId7" Target="../media/image12.png" Type="http://schemas.openxmlformats.org/officeDocument/2006/relationships/image"/><Relationship Id="rId8" Target="../media/image13.png" Type="http://schemas.openxmlformats.org/officeDocument/2006/relationships/image"/><Relationship Id="rId9" Target="../media/image1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6.png" Type="http://schemas.openxmlformats.org/officeDocument/2006/relationships/image"/><Relationship Id="rId11" Target="../media/image27.png" Type="http://schemas.openxmlformats.org/officeDocument/2006/relationships/image"/><Relationship Id="rId12" Target="../media/image28.png" Type="http://schemas.openxmlformats.org/officeDocument/2006/relationships/image"/><Relationship Id="rId13" Target="../media/image29.png" Type="http://schemas.openxmlformats.org/officeDocument/2006/relationships/image"/><Relationship Id="rId14" Target="../media/image30.png" Type="http://schemas.openxmlformats.org/officeDocument/2006/relationships/image"/><Relationship Id="rId15" Target="../media/image31.png" Type="http://schemas.openxmlformats.org/officeDocument/2006/relationships/image"/><Relationship Id="rId16" Target="../media/image32.png" Type="http://schemas.openxmlformats.org/officeDocument/2006/relationships/image"/><Relationship Id="rId17" Target="../media/image33.png" Type="http://schemas.openxmlformats.org/officeDocument/2006/relationships/image"/><Relationship Id="rId18" Target="../media/image34.png" Type="http://schemas.openxmlformats.org/officeDocument/2006/relationships/image"/><Relationship Id="rId19" Target="../media/image35.png" Type="http://schemas.openxmlformats.org/officeDocument/2006/relationships/image"/><Relationship Id="rId2" Target="../media/image18.png" Type="http://schemas.openxmlformats.org/officeDocument/2006/relationships/image"/><Relationship Id="rId20" Target="../media/image36.png" Type="http://schemas.openxmlformats.org/officeDocument/2006/relationships/image"/><Relationship Id="rId21" Target="../media/image37.png" Type="http://schemas.openxmlformats.org/officeDocument/2006/relationships/image"/><Relationship Id="rId22" Target="../media/image38.png" Type="http://schemas.openxmlformats.org/officeDocument/2006/relationships/image"/><Relationship Id="rId23" Target="../media/image39.png" Type="http://schemas.openxmlformats.org/officeDocument/2006/relationships/image"/><Relationship Id="rId24" Target="../media/image40.png" Type="http://schemas.openxmlformats.org/officeDocument/2006/relationships/image"/><Relationship Id="rId25" Target="../media/image41.png" Type="http://schemas.openxmlformats.org/officeDocument/2006/relationships/image"/><Relationship Id="rId26" Target="../media/image42.png" Type="http://schemas.openxmlformats.org/officeDocument/2006/relationships/image"/><Relationship Id="rId27" Target="../media/image43.png" Type="http://schemas.openxmlformats.org/officeDocument/2006/relationships/image"/><Relationship Id="rId3" Target="../media/image19.png" Type="http://schemas.openxmlformats.org/officeDocument/2006/relationships/image"/><Relationship Id="rId4" Target="../media/image20.png" Type="http://schemas.openxmlformats.org/officeDocument/2006/relationships/image"/><Relationship Id="rId5" Target="../media/image21.png" Type="http://schemas.openxmlformats.org/officeDocument/2006/relationships/image"/><Relationship Id="rId6" Target="../media/image22.png" Type="http://schemas.openxmlformats.org/officeDocument/2006/relationships/image"/><Relationship Id="rId7" Target="../media/image23.png" Type="http://schemas.openxmlformats.org/officeDocument/2006/relationships/image"/><Relationship Id="rId8" Target="../media/image24.png" Type="http://schemas.openxmlformats.org/officeDocument/2006/relationships/image"/><Relationship Id="rId9" Target="../media/image2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2.png" Type="http://schemas.openxmlformats.org/officeDocument/2006/relationships/image"/><Relationship Id="rId11" Target="../media/image53.png" Type="http://schemas.openxmlformats.org/officeDocument/2006/relationships/image"/><Relationship Id="rId12" Target="../media/image54.png" Type="http://schemas.openxmlformats.org/officeDocument/2006/relationships/image"/><Relationship Id="rId13" Target="../media/image55.png" Type="http://schemas.openxmlformats.org/officeDocument/2006/relationships/image"/><Relationship Id="rId14" Target="../media/image56.png" Type="http://schemas.openxmlformats.org/officeDocument/2006/relationships/image"/><Relationship Id="rId15" Target="../media/image57.png" Type="http://schemas.openxmlformats.org/officeDocument/2006/relationships/image"/><Relationship Id="rId16" Target="../media/image58.png" Type="http://schemas.openxmlformats.org/officeDocument/2006/relationships/image"/><Relationship Id="rId17" Target="../media/image59.png" Type="http://schemas.openxmlformats.org/officeDocument/2006/relationships/image"/><Relationship Id="rId18" Target="../media/image60.png" Type="http://schemas.openxmlformats.org/officeDocument/2006/relationships/image"/><Relationship Id="rId19" Target="../media/image61.png" Type="http://schemas.openxmlformats.org/officeDocument/2006/relationships/image"/><Relationship Id="rId2" Target="../media/image44.png" Type="http://schemas.openxmlformats.org/officeDocument/2006/relationships/image"/><Relationship Id="rId20" Target="../media/image62.png" Type="http://schemas.openxmlformats.org/officeDocument/2006/relationships/image"/><Relationship Id="rId21" Target="../media/image63.png" Type="http://schemas.openxmlformats.org/officeDocument/2006/relationships/image"/><Relationship Id="rId22" Target="../media/image64.png" Type="http://schemas.openxmlformats.org/officeDocument/2006/relationships/image"/><Relationship Id="rId23" Target="../media/image65.png" Type="http://schemas.openxmlformats.org/officeDocument/2006/relationships/image"/><Relationship Id="rId24" Target="../media/image66.png" Type="http://schemas.openxmlformats.org/officeDocument/2006/relationships/image"/><Relationship Id="rId3" Target="../media/image45.png" Type="http://schemas.openxmlformats.org/officeDocument/2006/relationships/image"/><Relationship Id="rId4" Target="../media/image46.png" Type="http://schemas.openxmlformats.org/officeDocument/2006/relationships/image"/><Relationship Id="rId5" Target="../media/image47.png" Type="http://schemas.openxmlformats.org/officeDocument/2006/relationships/image"/><Relationship Id="rId6" Target="../media/image48.png" Type="http://schemas.openxmlformats.org/officeDocument/2006/relationships/image"/><Relationship Id="rId7" Target="../media/image49.png" Type="http://schemas.openxmlformats.org/officeDocument/2006/relationships/image"/><Relationship Id="rId8" Target="../media/image50.png" Type="http://schemas.openxmlformats.org/officeDocument/2006/relationships/image"/><Relationship Id="rId9" Target="../media/image5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5.png" Type="http://schemas.openxmlformats.org/officeDocument/2006/relationships/image"/><Relationship Id="rId11" Target="../media/image76.png" Type="http://schemas.openxmlformats.org/officeDocument/2006/relationships/image"/><Relationship Id="rId12" Target="../media/image77.png" Type="http://schemas.openxmlformats.org/officeDocument/2006/relationships/image"/><Relationship Id="rId13" Target="../media/image78.png" Type="http://schemas.openxmlformats.org/officeDocument/2006/relationships/image"/><Relationship Id="rId14" Target="../media/image79.png" Type="http://schemas.openxmlformats.org/officeDocument/2006/relationships/image"/><Relationship Id="rId15" Target="../media/image80.png" Type="http://schemas.openxmlformats.org/officeDocument/2006/relationships/image"/><Relationship Id="rId16" Target="../media/image81.png" Type="http://schemas.openxmlformats.org/officeDocument/2006/relationships/image"/><Relationship Id="rId17" Target="../media/image82.png" Type="http://schemas.openxmlformats.org/officeDocument/2006/relationships/image"/><Relationship Id="rId18" Target="../media/image83.png" Type="http://schemas.openxmlformats.org/officeDocument/2006/relationships/image"/><Relationship Id="rId2" Target="../media/image67.png" Type="http://schemas.openxmlformats.org/officeDocument/2006/relationships/image"/><Relationship Id="rId3" Target="../media/image68.png" Type="http://schemas.openxmlformats.org/officeDocument/2006/relationships/image"/><Relationship Id="rId4" Target="../media/image69.png" Type="http://schemas.openxmlformats.org/officeDocument/2006/relationships/image"/><Relationship Id="rId5" Target="../media/image70.png" Type="http://schemas.openxmlformats.org/officeDocument/2006/relationships/image"/><Relationship Id="rId6" Target="../media/image71.png" Type="http://schemas.openxmlformats.org/officeDocument/2006/relationships/image"/><Relationship Id="rId7" Target="../media/image72.png" Type="http://schemas.openxmlformats.org/officeDocument/2006/relationships/image"/><Relationship Id="rId8" Target="../media/image73.png" Type="http://schemas.openxmlformats.org/officeDocument/2006/relationships/image"/><Relationship Id="rId9" Target="../media/image7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2.png" Type="http://schemas.openxmlformats.org/officeDocument/2006/relationships/image"/><Relationship Id="rId11" Target="../media/image93.png" Type="http://schemas.openxmlformats.org/officeDocument/2006/relationships/image"/><Relationship Id="rId12" Target="../media/image94.png" Type="http://schemas.openxmlformats.org/officeDocument/2006/relationships/image"/><Relationship Id="rId13" Target="../media/image95.png" Type="http://schemas.openxmlformats.org/officeDocument/2006/relationships/image"/><Relationship Id="rId14" Target="../media/image96.png" Type="http://schemas.openxmlformats.org/officeDocument/2006/relationships/image"/><Relationship Id="rId15" Target="../media/image97.png" Type="http://schemas.openxmlformats.org/officeDocument/2006/relationships/image"/><Relationship Id="rId16" Target="../media/image98.png" Type="http://schemas.openxmlformats.org/officeDocument/2006/relationships/image"/><Relationship Id="rId17" Target="../media/image99.png" Type="http://schemas.openxmlformats.org/officeDocument/2006/relationships/image"/><Relationship Id="rId18" Target="../media/image100.png" Type="http://schemas.openxmlformats.org/officeDocument/2006/relationships/image"/><Relationship Id="rId19" Target="../media/image101.png" Type="http://schemas.openxmlformats.org/officeDocument/2006/relationships/image"/><Relationship Id="rId2" Target="../media/image84.png" Type="http://schemas.openxmlformats.org/officeDocument/2006/relationships/image"/><Relationship Id="rId20" Target="../media/image102.png" Type="http://schemas.openxmlformats.org/officeDocument/2006/relationships/image"/><Relationship Id="rId21" Target="../media/image103.png" Type="http://schemas.openxmlformats.org/officeDocument/2006/relationships/image"/><Relationship Id="rId3" Target="../media/image85.png" Type="http://schemas.openxmlformats.org/officeDocument/2006/relationships/image"/><Relationship Id="rId4" Target="../media/image86.png" Type="http://schemas.openxmlformats.org/officeDocument/2006/relationships/image"/><Relationship Id="rId5" Target="../media/image87.png" Type="http://schemas.openxmlformats.org/officeDocument/2006/relationships/image"/><Relationship Id="rId6" Target="../media/image88.png" Type="http://schemas.openxmlformats.org/officeDocument/2006/relationships/image"/><Relationship Id="rId7" Target="../media/image89.png" Type="http://schemas.openxmlformats.org/officeDocument/2006/relationships/image"/><Relationship Id="rId8" Target="../media/image90.png" Type="http://schemas.openxmlformats.org/officeDocument/2006/relationships/image"/><Relationship Id="rId9" Target="../media/image9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2.png" Type="http://schemas.openxmlformats.org/officeDocument/2006/relationships/image"/><Relationship Id="rId11" Target="../media/image113.png" Type="http://schemas.openxmlformats.org/officeDocument/2006/relationships/image"/><Relationship Id="rId12" Target="../media/image114.png" Type="http://schemas.openxmlformats.org/officeDocument/2006/relationships/image"/><Relationship Id="rId13" Target="../media/image115.png" Type="http://schemas.openxmlformats.org/officeDocument/2006/relationships/image"/><Relationship Id="rId14" Target="../media/image116.png" Type="http://schemas.openxmlformats.org/officeDocument/2006/relationships/image"/><Relationship Id="rId15" Target="../media/image117.png" Type="http://schemas.openxmlformats.org/officeDocument/2006/relationships/image"/><Relationship Id="rId16" Target="../media/image118.png" Type="http://schemas.openxmlformats.org/officeDocument/2006/relationships/image"/><Relationship Id="rId17" Target="../media/image119.png" Type="http://schemas.openxmlformats.org/officeDocument/2006/relationships/image"/><Relationship Id="rId18" Target="../media/image120.png" Type="http://schemas.openxmlformats.org/officeDocument/2006/relationships/image"/><Relationship Id="rId19" Target="../media/image121.png" Type="http://schemas.openxmlformats.org/officeDocument/2006/relationships/image"/><Relationship Id="rId2" Target="../media/image104.png" Type="http://schemas.openxmlformats.org/officeDocument/2006/relationships/image"/><Relationship Id="rId20" Target="../media/image122.png" Type="http://schemas.openxmlformats.org/officeDocument/2006/relationships/image"/><Relationship Id="rId21" Target="../media/image123.png" Type="http://schemas.openxmlformats.org/officeDocument/2006/relationships/image"/><Relationship Id="rId22" Target="../media/image124.png" Type="http://schemas.openxmlformats.org/officeDocument/2006/relationships/image"/><Relationship Id="rId23" Target="../media/image125.png" Type="http://schemas.openxmlformats.org/officeDocument/2006/relationships/image"/><Relationship Id="rId24" Target="../media/image126.png" Type="http://schemas.openxmlformats.org/officeDocument/2006/relationships/image"/><Relationship Id="rId3" Target="../media/image105.png" Type="http://schemas.openxmlformats.org/officeDocument/2006/relationships/image"/><Relationship Id="rId4" Target="../media/image106.png" Type="http://schemas.openxmlformats.org/officeDocument/2006/relationships/image"/><Relationship Id="rId5" Target="../media/image107.png" Type="http://schemas.openxmlformats.org/officeDocument/2006/relationships/image"/><Relationship Id="rId6" Target="../media/image108.png" Type="http://schemas.openxmlformats.org/officeDocument/2006/relationships/image"/><Relationship Id="rId7" Target="../media/image109.png" Type="http://schemas.openxmlformats.org/officeDocument/2006/relationships/image"/><Relationship Id="rId8" Target="../media/image110.png" Type="http://schemas.openxmlformats.org/officeDocument/2006/relationships/image"/><Relationship Id="rId9" Target="../media/image11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5.png" Type="http://schemas.openxmlformats.org/officeDocument/2006/relationships/image"/><Relationship Id="rId11" Target="../media/image136.png" Type="http://schemas.openxmlformats.org/officeDocument/2006/relationships/image"/><Relationship Id="rId12" Target="../media/image137.png" Type="http://schemas.openxmlformats.org/officeDocument/2006/relationships/image"/><Relationship Id="rId13" Target="../media/image138.png" Type="http://schemas.openxmlformats.org/officeDocument/2006/relationships/image"/><Relationship Id="rId14" Target="../media/image139.png" Type="http://schemas.openxmlformats.org/officeDocument/2006/relationships/image"/><Relationship Id="rId15" Target="../media/image140.png" Type="http://schemas.openxmlformats.org/officeDocument/2006/relationships/image"/><Relationship Id="rId16" Target="../media/image141.png" Type="http://schemas.openxmlformats.org/officeDocument/2006/relationships/image"/><Relationship Id="rId17" Target="../media/image142.png" Type="http://schemas.openxmlformats.org/officeDocument/2006/relationships/image"/><Relationship Id="rId18" Target="../media/image143.png" Type="http://schemas.openxmlformats.org/officeDocument/2006/relationships/image"/><Relationship Id="rId19" Target="../media/image144.png" Type="http://schemas.openxmlformats.org/officeDocument/2006/relationships/image"/><Relationship Id="rId2" Target="../media/image127.png" Type="http://schemas.openxmlformats.org/officeDocument/2006/relationships/image"/><Relationship Id="rId20" Target="../media/image145.png" Type="http://schemas.openxmlformats.org/officeDocument/2006/relationships/image"/><Relationship Id="rId21" Target="../media/image146.png" Type="http://schemas.openxmlformats.org/officeDocument/2006/relationships/image"/><Relationship Id="rId22" Target="../media/image147.png" Type="http://schemas.openxmlformats.org/officeDocument/2006/relationships/image"/><Relationship Id="rId3" Target="../media/image128.png" Type="http://schemas.openxmlformats.org/officeDocument/2006/relationships/image"/><Relationship Id="rId4" Target="../media/image129.png" Type="http://schemas.openxmlformats.org/officeDocument/2006/relationships/image"/><Relationship Id="rId5" Target="../media/image130.png" Type="http://schemas.openxmlformats.org/officeDocument/2006/relationships/image"/><Relationship Id="rId6" Target="../media/image131.png" Type="http://schemas.openxmlformats.org/officeDocument/2006/relationships/image"/><Relationship Id="rId7" Target="../media/image132.png" Type="http://schemas.openxmlformats.org/officeDocument/2006/relationships/image"/><Relationship Id="rId8" Target="../media/image133.png" Type="http://schemas.openxmlformats.org/officeDocument/2006/relationships/image"/><Relationship Id="rId9" Target="../media/image13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6.png" Type="http://schemas.openxmlformats.org/officeDocument/2006/relationships/image"/><Relationship Id="rId11" Target="../media/image157.png" Type="http://schemas.openxmlformats.org/officeDocument/2006/relationships/image"/><Relationship Id="rId12" Target="../media/image158.png" Type="http://schemas.openxmlformats.org/officeDocument/2006/relationships/image"/><Relationship Id="rId13" Target="../media/image159.png" Type="http://schemas.openxmlformats.org/officeDocument/2006/relationships/image"/><Relationship Id="rId14" Target="../media/image160.png" Type="http://schemas.openxmlformats.org/officeDocument/2006/relationships/image"/><Relationship Id="rId15" Target="../media/image161.png" Type="http://schemas.openxmlformats.org/officeDocument/2006/relationships/image"/><Relationship Id="rId16" Target="../media/image162.png" Type="http://schemas.openxmlformats.org/officeDocument/2006/relationships/image"/><Relationship Id="rId2" Target="../media/image148.png" Type="http://schemas.openxmlformats.org/officeDocument/2006/relationships/image"/><Relationship Id="rId3" Target="../media/image149.png" Type="http://schemas.openxmlformats.org/officeDocument/2006/relationships/image"/><Relationship Id="rId4" Target="../media/image150.png" Type="http://schemas.openxmlformats.org/officeDocument/2006/relationships/image"/><Relationship Id="rId5" Target="../media/image151.png" Type="http://schemas.openxmlformats.org/officeDocument/2006/relationships/image"/><Relationship Id="rId6" Target="../media/image152.png" Type="http://schemas.openxmlformats.org/officeDocument/2006/relationships/image"/><Relationship Id="rId7" Target="../media/image153.png" Type="http://schemas.openxmlformats.org/officeDocument/2006/relationships/image"/><Relationship Id="rId8" Target="../media/image154.png" Type="http://schemas.openxmlformats.org/officeDocument/2006/relationships/image"/><Relationship Id="rId9" Target="../media/image15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1.png" Type="http://schemas.openxmlformats.org/officeDocument/2006/relationships/image"/><Relationship Id="rId2" Target="../media/image163.png" Type="http://schemas.openxmlformats.org/officeDocument/2006/relationships/image"/><Relationship Id="rId3" Target="../media/image164.png" Type="http://schemas.openxmlformats.org/officeDocument/2006/relationships/image"/><Relationship Id="rId4" Target="../media/image165.png" Type="http://schemas.openxmlformats.org/officeDocument/2006/relationships/image"/><Relationship Id="rId5" Target="../media/image166.png" Type="http://schemas.openxmlformats.org/officeDocument/2006/relationships/image"/><Relationship Id="rId6" Target="../media/image167.png" Type="http://schemas.openxmlformats.org/officeDocument/2006/relationships/image"/><Relationship Id="rId7" Target="../media/image168.png" Type="http://schemas.openxmlformats.org/officeDocument/2006/relationships/image"/><Relationship Id="rId8" Target="../media/image169.png" Type="http://schemas.openxmlformats.org/officeDocument/2006/relationships/image"/><Relationship Id="rId9" Target="../media/image17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0.png" Type="http://schemas.openxmlformats.org/officeDocument/2006/relationships/image"/><Relationship Id="rId11" Target="../media/image181.png" Type="http://schemas.openxmlformats.org/officeDocument/2006/relationships/image"/><Relationship Id="rId12" Target="../media/image182.png" Type="http://schemas.openxmlformats.org/officeDocument/2006/relationships/image"/><Relationship Id="rId13" Target="../media/image183.png" Type="http://schemas.openxmlformats.org/officeDocument/2006/relationships/image"/><Relationship Id="rId14" Target="../media/image184.png" Type="http://schemas.openxmlformats.org/officeDocument/2006/relationships/image"/><Relationship Id="rId15" Target="../media/image185.png" Type="http://schemas.openxmlformats.org/officeDocument/2006/relationships/image"/><Relationship Id="rId16" Target="../media/image186.png" Type="http://schemas.openxmlformats.org/officeDocument/2006/relationships/image"/><Relationship Id="rId17" Target="../media/image187.png" Type="http://schemas.openxmlformats.org/officeDocument/2006/relationships/image"/><Relationship Id="rId18" Target="../media/image188.png" Type="http://schemas.openxmlformats.org/officeDocument/2006/relationships/image"/><Relationship Id="rId19" Target="../media/image189.png" Type="http://schemas.openxmlformats.org/officeDocument/2006/relationships/image"/><Relationship Id="rId2" Target="../media/image172.png" Type="http://schemas.openxmlformats.org/officeDocument/2006/relationships/image"/><Relationship Id="rId20" Target="../media/image190.png" Type="http://schemas.openxmlformats.org/officeDocument/2006/relationships/image"/><Relationship Id="rId21" Target="../media/image191.png" Type="http://schemas.openxmlformats.org/officeDocument/2006/relationships/image"/><Relationship Id="rId22" Target="../media/image192.png" Type="http://schemas.openxmlformats.org/officeDocument/2006/relationships/image"/><Relationship Id="rId3" Target="../media/image173.png" Type="http://schemas.openxmlformats.org/officeDocument/2006/relationships/image"/><Relationship Id="rId4" Target="../media/image174.png" Type="http://schemas.openxmlformats.org/officeDocument/2006/relationships/image"/><Relationship Id="rId5" Target="../media/image175.png" Type="http://schemas.openxmlformats.org/officeDocument/2006/relationships/image"/><Relationship Id="rId6" Target="../media/image176.png" Type="http://schemas.openxmlformats.org/officeDocument/2006/relationships/image"/><Relationship Id="rId7" Target="../media/image177.png" Type="http://schemas.openxmlformats.org/officeDocument/2006/relationships/image"/><Relationship Id="rId8" Target="../media/image178.png" Type="http://schemas.openxmlformats.org/officeDocument/2006/relationships/image"/><Relationship Id="rId9" Target="../media/image179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01.png" Type="http://schemas.openxmlformats.org/officeDocument/2006/relationships/image"/><Relationship Id="rId11" Target="../media/image202.png" Type="http://schemas.openxmlformats.org/officeDocument/2006/relationships/image"/><Relationship Id="rId12" Target="../media/image203.png" Type="http://schemas.openxmlformats.org/officeDocument/2006/relationships/image"/><Relationship Id="rId13" Target="../media/image204.png" Type="http://schemas.openxmlformats.org/officeDocument/2006/relationships/image"/><Relationship Id="rId2" Target="../media/image193.png" Type="http://schemas.openxmlformats.org/officeDocument/2006/relationships/image"/><Relationship Id="rId3" Target="../media/image194.png" Type="http://schemas.openxmlformats.org/officeDocument/2006/relationships/image"/><Relationship Id="rId4" Target="../media/image195.png" Type="http://schemas.openxmlformats.org/officeDocument/2006/relationships/image"/><Relationship Id="rId5" Target="../media/image196.png" Type="http://schemas.openxmlformats.org/officeDocument/2006/relationships/image"/><Relationship Id="rId6" Target="../media/image197.png" Type="http://schemas.openxmlformats.org/officeDocument/2006/relationships/image"/><Relationship Id="rId7" Target="../media/image198.png" Type="http://schemas.openxmlformats.org/officeDocument/2006/relationships/image"/><Relationship Id="rId8" Target="../media/image199.png" Type="http://schemas.openxmlformats.org/officeDocument/2006/relationships/image"/><Relationship Id="rId9" Target="../media/image200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5.png" Type="http://schemas.openxmlformats.org/officeDocument/2006/relationships/image"/><Relationship Id="rId3" Target="../media/image206.png" Type="http://schemas.openxmlformats.org/officeDocument/2006/relationships/image"/><Relationship Id="rId4" Target="../media/image207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8.png" Type="http://schemas.openxmlformats.org/officeDocument/2006/relationships/image"/><Relationship Id="rId3" Target="../media/image206.png" Type="http://schemas.openxmlformats.org/officeDocument/2006/relationships/image"/><Relationship Id="rId4" Target="../media/image207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224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837714" y="1285875"/>
            <a:ext cx="10021556" cy="7929562"/>
          </a:xfrm>
          <a:custGeom>
            <a:avLst/>
            <a:gdLst/>
            <a:ahLst/>
            <a:cxnLst/>
            <a:rect r="r" b="b" t="t" l="l"/>
            <a:pathLst>
              <a:path h="7929562" w="10021556">
                <a:moveTo>
                  <a:pt x="0" y="0"/>
                </a:moveTo>
                <a:lnTo>
                  <a:pt x="10021556" y="0"/>
                </a:lnTo>
                <a:lnTo>
                  <a:pt x="10021556" y="7929563"/>
                </a:lnTo>
                <a:lnTo>
                  <a:pt x="0" y="79295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480809" y="1714500"/>
            <a:ext cx="7851112" cy="6643688"/>
          </a:xfrm>
          <a:custGeom>
            <a:avLst/>
            <a:gdLst/>
            <a:ahLst/>
            <a:cxnLst/>
            <a:rect r="r" b="b" t="t" l="l"/>
            <a:pathLst>
              <a:path h="6643688" w="7851112">
                <a:moveTo>
                  <a:pt x="0" y="0"/>
                </a:moveTo>
                <a:lnTo>
                  <a:pt x="7851112" y="0"/>
                </a:lnTo>
                <a:lnTo>
                  <a:pt x="7851112" y="6643688"/>
                </a:lnTo>
                <a:lnTo>
                  <a:pt x="0" y="66436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609952" y="4071938"/>
            <a:ext cx="884255" cy="642938"/>
          </a:xfrm>
          <a:custGeom>
            <a:avLst/>
            <a:gdLst/>
            <a:ahLst/>
            <a:cxnLst/>
            <a:rect r="r" b="b" t="t" l="l"/>
            <a:pathLst>
              <a:path h="642938" w="884255">
                <a:moveTo>
                  <a:pt x="0" y="0"/>
                </a:moveTo>
                <a:lnTo>
                  <a:pt x="884255" y="0"/>
                </a:lnTo>
                <a:lnTo>
                  <a:pt x="884255" y="642937"/>
                </a:lnTo>
                <a:lnTo>
                  <a:pt x="0" y="64293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052079" y="7500938"/>
            <a:ext cx="1098620" cy="1071562"/>
          </a:xfrm>
          <a:custGeom>
            <a:avLst/>
            <a:gdLst/>
            <a:ahLst/>
            <a:cxnLst/>
            <a:rect r="r" b="b" t="t" l="l"/>
            <a:pathLst>
              <a:path h="1071562" w="1098620">
                <a:moveTo>
                  <a:pt x="0" y="0"/>
                </a:moveTo>
                <a:lnTo>
                  <a:pt x="1098620" y="0"/>
                </a:lnTo>
                <a:lnTo>
                  <a:pt x="1098620" y="1071562"/>
                </a:lnTo>
                <a:lnTo>
                  <a:pt x="0" y="10715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233301" y="7286625"/>
            <a:ext cx="669890" cy="642938"/>
          </a:xfrm>
          <a:custGeom>
            <a:avLst/>
            <a:gdLst/>
            <a:ahLst/>
            <a:cxnLst/>
            <a:rect r="r" b="b" t="t" l="l"/>
            <a:pathLst>
              <a:path h="642938" w="669890">
                <a:moveTo>
                  <a:pt x="0" y="0"/>
                </a:moveTo>
                <a:lnTo>
                  <a:pt x="669890" y="0"/>
                </a:lnTo>
                <a:lnTo>
                  <a:pt x="669890" y="642937"/>
                </a:lnTo>
                <a:lnTo>
                  <a:pt x="0" y="64293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4128" y="2225950"/>
            <a:ext cx="7424928" cy="4282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44"/>
              </a:lnSpc>
            </a:pPr>
            <a:r>
              <a:rPr lang="en-US" sz="13555" b="true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She4Tech AI Chatbot System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4128" y="6264771"/>
            <a:ext cx="4760873" cy="98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71"/>
              </a:lnSpc>
            </a:pPr>
            <a:r>
              <a:rPr lang="en-US" sz="1642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An Object-Oriented C++ Inquiry Management System</a:t>
            </a:r>
          </a:p>
          <a:p>
            <a:pPr algn="ctr">
              <a:lnSpc>
                <a:spcPts val="1971"/>
              </a:lnSpc>
            </a:pPr>
            <a:r>
              <a:rPr lang="en-US" sz="1642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SDG Goal: Industry, Innovation, and Infrastructure (SDG 9)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4128" y="8937808"/>
            <a:ext cx="3438144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0"/>
              </a:lnSpc>
            </a:pPr>
            <a:r>
              <a:rPr lang="en-US" sz="2092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BSIT 1st Year | CC103 – Computer Programming 2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4128" y="1037808"/>
            <a:ext cx="731520" cy="187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91"/>
              </a:lnSpc>
            </a:pPr>
            <a:r>
              <a:rPr lang="en-US" sz="1242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She4Tech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696944" y="1037808"/>
            <a:ext cx="585216" cy="187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50"/>
              </a:lnSpc>
            </a:pPr>
            <a:r>
              <a:rPr lang="en-US" sz="1292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Page 01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709392" y="8945684"/>
            <a:ext cx="1554480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11"/>
              </a:lnSpc>
            </a:pPr>
            <a:r>
              <a:rPr lang="en-US" sz="1592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Defense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4929188"/>
            <a:ext cx="1741714" cy="4500562"/>
          </a:xfrm>
          <a:custGeom>
            <a:avLst/>
            <a:gdLst/>
            <a:ahLst/>
            <a:cxnLst/>
            <a:rect r="r" b="b" t="t" l="l"/>
            <a:pathLst>
              <a:path h="4500562" w="1741714">
                <a:moveTo>
                  <a:pt x="0" y="0"/>
                </a:moveTo>
                <a:lnTo>
                  <a:pt x="1741714" y="0"/>
                </a:lnTo>
                <a:lnTo>
                  <a:pt x="1741714" y="4500562"/>
                </a:lnTo>
                <a:lnTo>
                  <a:pt x="0" y="45005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546286" y="1928812"/>
            <a:ext cx="1741714" cy="3857625"/>
          </a:xfrm>
          <a:custGeom>
            <a:avLst/>
            <a:gdLst/>
            <a:ahLst/>
            <a:cxnLst/>
            <a:rect r="r" b="b" t="t" l="l"/>
            <a:pathLst>
              <a:path h="3857625" w="1741714">
                <a:moveTo>
                  <a:pt x="0" y="0"/>
                </a:moveTo>
                <a:lnTo>
                  <a:pt x="1741714" y="0"/>
                </a:lnTo>
                <a:lnTo>
                  <a:pt x="1741714" y="3857626"/>
                </a:lnTo>
                <a:lnTo>
                  <a:pt x="0" y="385762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612571" y="5143500"/>
            <a:ext cx="4354286" cy="4500562"/>
          </a:xfrm>
          <a:custGeom>
            <a:avLst/>
            <a:gdLst/>
            <a:ahLst/>
            <a:cxnLst/>
            <a:rect r="r" b="b" t="t" l="l"/>
            <a:pathLst>
              <a:path h="4500562" w="4354286">
                <a:moveTo>
                  <a:pt x="0" y="0"/>
                </a:moveTo>
                <a:lnTo>
                  <a:pt x="4354286" y="0"/>
                </a:lnTo>
                <a:lnTo>
                  <a:pt x="4354286" y="4500562"/>
                </a:lnTo>
                <a:lnTo>
                  <a:pt x="0" y="450056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579429" y="1714500"/>
            <a:ext cx="8065477" cy="6215062"/>
          </a:xfrm>
          <a:custGeom>
            <a:avLst/>
            <a:gdLst/>
            <a:ahLst/>
            <a:cxnLst/>
            <a:rect r="r" b="b" t="t" l="l"/>
            <a:pathLst>
              <a:path h="6215062" w="8065477">
                <a:moveTo>
                  <a:pt x="0" y="0"/>
                </a:moveTo>
                <a:lnTo>
                  <a:pt x="8065476" y="0"/>
                </a:lnTo>
                <a:lnTo>
                  <a:pt x="8065476" y="6215062"/>
                </a:lnTo>
                <a:lnTo>
                  <a:pt x="0" y="62150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579429" y="7500938"/>
            <a:ext cx="8279842" cy="2357438"/>
          </a:xfrm>
          <a:custGeom>
            <a:avLst/>
            <a:gdLst/>
            <a:ahLst/>
            <a:cxnLst/>
            <a:rect r="r" b="b" t="t" l="l"/>
            <a:pathLst>
              <a:path h="2357438" w="8279842">
                <a:moveTo>
                  <a:pt x="0" y="0"/>
                </a:moveTo>
                <a:lnTo>
                  <a:pt x="8279841" y="0"/>
                </a:lnTo>
                <a:lnTo>
                  <a:pt x="8279841" y="2357437"/>
                </a:lnTo>
                <a:lnTo>
                  <a:pt x="0" y="235743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137301" y="7715250"/>
            <a:ext cx="669890" cy="857250"/>
          </a:xfrm>
          <a:custGeom>
            <a:avLst/>
            <a:gdLst/>
            <a:ahLst/>
            <a:cxnLst/>
            <a:rect r="r" b="b" t="t" l="l"/>
            <a:pathLst>
              <a:path h="857250" w="669890">
                <a:moveTo>
                  <a:pt x="0" y="0"/>
                </a:moveTo>
                <a:lnTo>
                  <a:pt x="669890" y="0"/>
                </a:lnTo>
                <a:lnTo>
                  <a:pt x="66989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760651" y="7286625"/>
            <a:ext cx="884255" cy="857250"/>
          </a:xfrm>
          <a:custGeom>
            <a:avLst/>
            <a:gdLst/>
            <a:ahLst/>
            <a:cxnLst/>
            <a:rect r="r" b="b" t="t" l="l"/>
            <a:pathLst>
              <a:path h="857250" w="884255">
                <a:moveTo>
                  <a:pt x="0" y="0"/>
                </a:moveTo>
                <a:lnTo>
                  <a:pt x="884254" y="0"/>
                </a:lnTo>
                <a:lnTo>
                  <a:pt x="884254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7189380" y="9215438"/>
            <a:ext cx="884255" cy="857250"/>
          </a:xfrm>
          <a:custGeom>
            <a:avLst/>
            <a:gdLst/>
            <a:ahLst/>
            <a:cxnLst/>
            <a:rect r="r" b="b" t="t" l="l"/>
            <a:pathLst>
              <a:path h="857250" w="884255">
                <a:moveTo>
                  <a:pt x="0" y="0"/>
                </a:moveTo>
                <a:lnTo>
                  <a:pt x="884255" y="0"/>
                </a:lnTo>
                <a:lnTo>
                  <a:pt x="88425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040112" y="8408980"/>
            <a:ext cx="7223760" cy="803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9"/>
              </a:lnSpc>
            </a:pPr>
            <a:r>
              <a:rPr lang="en-US" sz="1790" b="true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A console-based C++ application designed for automated inquiry responses and customer record management, improving interaction, automating responses, storing data, and demonstrating OOP concepts.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4128" y="3220528"/>
            <a:ext cx="6291072" cy="1058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70"/>
              </a:lnSpc>
            </a:pPr>
            <a:r>
              <a:rPr lang="en-US" sz="6975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PROJECT OVERVIEW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643095" y="642938"/>
            <a:ext cx="2411604" cy="1285875"/>
          </a:xfrm>
          <a:custGeom>
            <a:avLst/>
            <a:gdLst/>
            <a:ahLst/>
            <a:cxnLst/>
            <a:rect r="r" b="b" t="t" l="l"/>
            <a:pathLst>
              <a:path h="1285875" w="2411604">
                <a:moveTo>
                  <a:pt x="0" y="0"/>
                </a:moveTo>
                <a:lnTo>
                  <a:pt x="2411604" y="0"/>
                </a:lnTo>
                <a:lnTo>
                  <a:pt x="2411604" y="1285874"/>
                </a:lnTo>
                <a:lnTo>
                  <a:pt x="0" y="128587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024128" y="1038451"/>
            <a:ext cx="1682496" cy="669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2239" b="true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She4Tech AI Chatbot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5889793" y="642938"/>
            <a:ext cx="1755112" cy="1071562"/>
          </a:xfrm>
          <a:custGeom>
            <a:avLst/>
            <a:gdLst/>
            <a:ahLst/>
            <a:cxnLst/>
            <a:rect r="r" b="b" t="t" l="l"/>
            <a:pathLst>
              <a:path h="1071562" w="1755112">
                <a:moveTo>
                  <a:pt x="0" y="0"/>
                </a:moveTo>
                <a:lnTo>
                  <a:pt x="1755112" y="0"/>
                </a:lnTo>
                <a:lnTo>
                  <a:pt x="1755112" y="1071562"/>
                </a:lnTo>
                <a:lnTo>
                  <a:pt x="0" y="107156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6203168" y="1031004"/>
            <a:ext cx="1060704" cy="334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87"/>
              </a:lnSpc>
            </a:pPr>
            <a:r>
              <a:rPr lang="en-US" sz="2239" b="true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Page 02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609952" y="0"/>
            <a:ext cx="4367684" cy="1714500"/>
          </a:xfrm>
          <a:custGeom>
            <a:avLst/>
            <a:gdLst/>
            <a:ahLst/>
            <a:cxnLst/>
            <a:rect r="r" b="b" t="t" l="l"/>
            <a:pathLst>
              <a:path h="1714500" w="4367684">
                <a:moveTo>
                  <a:pt x="0" y="0"/>
                </a:moveTo>
                <a:lnTo>
                  <a:pt x="4367683" y="0"/>
                </a:lnTo>
                <a:lnTo>
                  <a:pt x="4367683" y="1714500"/>
                </a:lnTo>
                <a:lnTo>
                  <a:pt x="0" y="17145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2143125"/>
            <a:ext cx="1098620" cy="3214688"/>
          </a:xfrm>
          <a:custGeom>
            <a:avLst/>
            <a:gdLst/>
            <a:ahLst/>
            <a:cxnLst/>
            <a:rect r="r" b="b" t="t" l="l"/>
            <a:pathLst>
              <a:path h="3214688" w="1098620">
                <a:moveTo>
                  <a:pt x="0" y="0"/>
                </a:moveTo>
                <a:lnTo>
                  <a:pt x="1098620" y="0"/>
                </a:lnTo>
                <a:lnTo>
                  <a:pt x="1098620" y="3214687"/>
                </a:lnTo>
                <a:lnTo>
                  <a:pt x="0" y="32146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609952" y="3857625"/>
            <a:ext cx="2625969" cy="1500188"/>
          </a:xfrm>
          <a:custGeom>
            <a:avLst/>
            <a:gdLst/>
            <a:ahLst/>
            <a:cxnLst/>
            <a:rect r="r" b="b" t="t" l="l"/>
            <a:pathLst>
              <a:path h="1500188" w="2625969">
                <a:moveTo>
                  <a:pt x="0" y="0"/>
                </a:moveTo>
                <a:lnTo>
                  <a:pt x="2625969" y="0"/>
                </a:lnTo>
                <a:lnTo>
                  <a:pt x="2625969" y="1500187"/>
                </a:lnTo>
                <a:lnTo>
                  <a:pt x="0" y="150018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546286" y="3857625"/>
            <a:ext cx="1741714" cy="3643312"/>
          </a:xfrm>
          <a:custGeom>
            <a:avLst/>
            <a:gdLst/>
            <a:ahLst/>
            <a:cxnLst/>
            <a:rect r="r" b="b" t="t" l="l"/>
            <a:pathLst>
              <a:path h="3643312" w="1741714">
                <a:moveTo>
                  <a:pt x="0" y="0"/>
                </a:moveTo>
                <a:lnTo>
                  <a:pt x="1741714" y="0"/>
                </a:lnTo>
                <a:lnTo>
                  <a:pt x="1741714" y="3643313"/>
                </a:lnTo>
                <a:lnTo>
                  <a:pt x="0" y="364331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7417143" y="9001125"/>
            <a:ext cx="870857" cy="1285875"/>
          </a:xfrm>
          <a:custGeom>
            <a:avLst/>
            <a:gdLst/>
            <a:ahLst/>
            <a:cxnLst/>
            <a:rect r="r" b="b" t="t" l="l"/>
            <a:pathLst>
              <a:path h="1285875" w="870857">
                <a:moveTo>
                  <a:pt x="0" y="0"/>
                </a:moveTo>
                <a:lnTo>
                  <a:pt x="870857" y="0"/>
                </a:lnTo>
                <a:lnTo>
                  <a:pt x="870857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13952" y="2357438"/>
            <a:ext cx="1098620" cy="1071562"/>
          </a:xfrm>
          <a:custGeom>
            <a:avLst/>
            <a:gdLst/>
            <a:ahLst/>
            <a:cxnLst/>
            <a:rect r="r" b="b" t="t" l="l"/>
            <a:pathLst>
              <a:path h="1071562" w="1098620">
                <a:moveTo>
                  <a:pt x="0" y="0"/>
                </a:moveTo>
                <a:lnTo>
                  <a:pt x="1098619" y="0"/>
                </a:lnTo>
                <a:lnTo>
                  <a:pt x="1098619" y="1071562"/>
                </a:lnTo>
                <a:lnTo>
                  <a:pt x="0" y="107156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447666" y="1928812"/>
            <a:ext cx="1326382" cy="1071562"/>
          </a:xfrm>
          <a:custGeom>
            <a:avLst/>
            <a:gdLst/>
            <a:ahLst/>
            <a:cxnLst/>
            <a:rect r="r" b="b" t="t" l="l"/>
            <a:pathLst>
              <a:path h="1071562" w="1326382">
                <a:moveTo>
                  <a:pt x="0" y="0"/>
                </a:moveTo>
                <a:lnTo>
                  <a:pt x="1326382" y="0"/>
                </a:lnTo>
                <a:lnTo>
                  <a:pt x="1326382" y="1071563"/>
                </a:lnTo>
                <a:lnTo>
                  <a:pt x="0" y="107156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70857" y="3429000"/>
            <a:ext cx="7194620" cy="1928812"/>
          </a:xfrm>
          <a:custGeom>
            <a:avLst/>
            <a:gdLst/>
            <a:ahLst/>
            <a:cxnLst/>
            <a:rect r="r" b="b" t="t" l="l"/>
            <a:pathLst>
              <a:path h="1928812" w="7194620">
                <a:moveTo>
                  <a:pt x="0" y="0"/>
                </a:moveTo>
                <a:lnTo>
                  <a:pt x="7194620" y="0"/>
                </a:lnTo>
                <a:lnTo>
                  <a:pt x="7194620" y="1928812"/>
                </a:lnTo>
                <a:lnTo>
                  <a:pt x="0" y="192881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3912158" y="2571750"/>
            <a:ext cx="1540747" cy="1500188"/>
          </a:xfrm>
          <a:custGeom>
            <a:avLst/>
            <a:gdLst/>
            <a:ahLst/>
            <a:cxnLst/>
            <a:rect r="r" b="b" t="t" l="l"/>
            <a:pathLst>
              <a:path h="1500188" w="1540747">
                <a:moveTo>
                  <a:pt x="0" y="0"/>
                </a:moveTo>
                <a:lnTo>
                  <a:pt x="1540747" y="0"/>
                </a:lnTo>
                <a:lnTo>
                  <a:pt x="1540747" y="1500188"/>
                </a:lnTo>
                <a:lnTo>
                  <a:pt x="0" y="150018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4126523" y="2786062"/>
            <a:ext cx="1098620" cy="1071562"/>
          </a:xfrm>
          <a:custGeom>
            <a:avLst/>
            <a:gdLst/>
            <a:ahLst/>
            <a:cxnLst/>
            <a:rect r="r" b="b" t="t" l="l"/>
            <a:pathLst>
              <a:path h="1071562" w="1098620">
                <a:moveTo>
                  <a:pt x="0" y="0"/>
                </a:moveTo>
                <a:lnTo>
                  <a:pt x="1098620" y="0"/>
                </a:lnTo>
                <a:lnTo>
                  <a:pt x="1098620" y="1071563"/>
                </a:lnTo>
                <a:lnTo>
                  <a:pt x="0" y="107156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755648" y="4326767"/>
            <a:ext cx="5596128" cy="893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8"/>
              </a:lnSpc>
            </a:pPr>
            <a:r>
              <a:rPr lang="en-US" sz="1990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rPr>
              <a:t>Manual processes result in delayed responses to customer inquiries, causing frustration and potential loss of engagement.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870857" y="5357812"/>
            <a:ext cx="7194620" cy="2143125"/>
          </a:xfrm>
          <a:custGeom>
            <a:avLst/>
            <a:gdLst/>
            <a:ahLst/>
            <a:cxnLst/>
            <a:rect r="r" b="b" t="t" l="l"/>
            <a:pathLst>
              <a:path h="2143125" w="7194620">
                <a:moveTo>
                  <a:pt x="0" y="0"/>
                </a:moveTo>
                <a:lnTo>
                  <a:pt x="7194620" y="0"/>
                </a:lnTo>
                <a:lnTo>
                  <a:pt x="7194620" y="2143126"/>
                </a:lnTo>
                <a:lnTo>
                  <a:pt x="0" y="2143126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428730" y="5786438"/>
            <a:ext cx="1312985" cy="1285875"/>
          </a:xfrm>
          <a:custGeom>
            <a:avLst/>
            <a:gdLst/>
            <a:ahLst/>
            <a:cxnLst/>
            <a:rect r="r" b="b" t="t" l="l"/>
            <a:pathLst>
              <a:path h="1285875" w="1312985">
                <a:moveTo>
                  <a:pt x="0" y="0"/>
                </a:moveTo>
                <a:lnTo>
                  <a:pt x="1312984" y="0"/>
                </a:lnTo>
                <a:lnTo>
                  <a:pt x="1312984" y="1285874"/>
                </a:lnTo>
                <a:lnTo>
                  <a:pt x="0" y="128587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643095" y="6000750"/>
            <a:ext cx="884255" cy="857250"/>
          </a:xfrm>
          <a:custGeom>
            <a:avLst/>
            <a:gdLst/>
            <a:ahLst/>
            <a:cxnLst/>
            <a:rect r="r" b="b" t="t" l="l"/>
            <a:pathLst>
              <a:path h="857250" w="884255">
                <a:moveTo>
                  <a:pt x="0" y="0"/>
                </a:moveTo>
                <a:lnTo>
                  <a:pt x="884254" y="0"/>
                </a:lnTo>
                <a:lnTo>
                  <a:pt x="884254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938528" y="6281297"/>
            <a:ext cx="5596128" cy="893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8"/>
              </a:lnSpc>
            </a:pPr>
            <a:r>
              <a:rPr lang="en-US" sz="1990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rPr>
              <a:t>Manual processes result in delayed responses to customer inquiries, causing frustration and potential loss of engagement.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1085222" y="7500938"/>
            <a:ext cx="6980255" cy="2143125"/>
          </a:xfrm>
          <a:custGeom>
            <a:avLst/>
            <a:gdLst/>
            <a:ahLst/>
            <a:cxnLst/>
            <a:rect r="r" b="b" t="t" l="l"/>
            <a:pathLst>
              <a:path h="2143125" w="6980255">
                <a:moveTo>
                  <a:pt x="0" y="0"/>
                </a:moveTo>
                <a:lnTo>
                  <a:pt x="6980255" y="0"/>
                </a:lnTo>
                <a:lnTo>
                  <a:pt x="6980255" y="2143124"/>
                </a:lnTo>
                <a:lnTo>
                  <a:pt x="0" y="2143124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428730" y="7929562"/>
            <a:ext cx="1312985" cy="1285875"/>
          </a:xfrm>
          <a:custGeom>
            <a:avLst/>
            <a:gdLst/>
            <a:ahLst/>
            <a:cxnLst/>
            <a:rect r="r" b="b" t="t" l="l"/>
            <a:pathLst>
              <a:path h="1285875" w="1312985">
                <a:moveTo>
                  <a:pt x="0" y="0"/>
                </a:moveTo>
                <a:lnTo>
                  <a:pt x="1312984" y="0"/>
                </a:lnTo>
                <a:lnTo>
                  <a:pt x="1312984" y="1285876"/>
                </a:lnTo>
                <a:lnTo>
                  <a:pt x="0" y="1285876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643095" y="8143875"/>
            <a:ext cx="884255" cy="857250"/>
          </a:xfrm>
          <a:custGeom>
            <a:avLst/>
            <a:gdLst/>
            <a:ahLst/>
            <a:cxnLst/>
            <a:rect r="r" b="b" t="t" l="l"/>
            <a:pathLst>
              <a:path h="857250" w="884255">
                <a:moveTo>
                  <a:pt x="0" y="0"/>
                </a:moveTo>
                <a:lnTo>
                  <a:pt x="884254" y="0"/>
                </a:lnTo>
                <a:lnTo>
                  <a:pt x="884254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938528" y="7830991"/>
            <a:ext cx="2907792" cy="304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8"/>
              </a:lnSpc>
            </a:pPr>
            <a:r>
              <a:rPr lang="en-US" sz="1990" b="true">
                <a:solidFill>
                  <a:srgbClr val="FFFFFF"/>
                </a:solidFill>
                <a:latin typeface="Ubuntu Bold"/>
                <a:ea typeface="Ubuntu Bold"/>
                <a:cs typeface="Ubuntu Bold"/>
                <a:sym typeface="Ubuntu Bold"/>
              </a:rPr>
              <a:t>Poor Data Organization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938528" y="8379643"/>
            <a:ext cx="5358384" cy="822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8"/>
              </a:lnSpc>
            </a:pPr>
            <a:r>
              <a:rPr lang="en-US" sz="1840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rPr>
              <a:t>Without proper systems, organizing and retrieving customer data becomes chaotic, leading to lost information and repeated inquiries.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10008158" y="3429000"/>
            <a:ext cx="7408985" cy="1928812"/>
          </a:xfrm>
          <a:custGeom>
            <a:avLst/>
            <a:gdLst/>
            <a:ahLst/>
            <a:cxnLst/>
            <a:rect r="r" b="b" t="t" l="l"/>
            <a:pathLst>
              <a:path h="1928812" w="7408985">
                <a:moveTo>
                  <a:pt x="0" y="0"/>
                </a:moveTo>
                <a:lnTo>
                  <a:pt x="7408985" y="0"/>
                </a:lnTo>
                <a:lnTo>
                  <a:pt x="7408985" y="1928812"/>
                </a:lnTo>
                <a:lnTo>
                  <a:pt x="0" y="1928812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3062857" y="2571750"/>
            <a:ext cx="1527349" cy="1500188"/>
          </a:xfrm>
          <a:custGeom>
            <a:avLst/>
            <a:gdLst/>
            <a:ahLst/>
            <a:cxnLst/>
            <a:rect r="r" b="b" t="t" l="l"/>
            <a:pathLst>
              <a:path h="1500188" w="1527349">
                <a:moveTo>
                  <a:pt x="0" y="0"/>
                </a:moveTo>
                <a:lnTo>
                  <a:pt x="1527350" y="0"/>
                </a:lnTo>
                <a:lnTo>
                  <a:pt x="1527350" y="1500188"/>
                </a:lnTo>
                <a:lnTo>
                  <a:pt x="0" y="1500188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3277222" y="2786062"/>
            <a:ext cx="1098620" cy="1071562"/>
          </a:xfrm>
          <a:custGeom>
            <a:avLst/>
            <a:gdLst/>
            <a:ahLst/>
            <a:cxnLst/>
            <a:rect r="r" b="b" t="t" l="l"/>
            <a:pathLst>
              <a:path h="1071562" w="1098620">
                <a:moveTo>
                  <a:pt x="0" y="0"/>
                </a:moveTo>
                <a:lnTo>
                  <a:pt x="1098620" y="0"/>
                </a:lnTo>
                <a:lnTo>
                  <a:pt x="1098620" y="1071563"/>
                </a:lnTo>
                <a:lnTo>
                  <a:pt x="0" y="1071563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10735056" y="4357426"/>
            <a:ext cx="6217920" cy="822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08"/>
              </a:lnSpc>
            </a:pPr>
            <a:r>
              <a:rPr lang="en-US" sz="1840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rPr>
              <a:t>Manual inquiry handling creates significant challenges for organizations, leading to inefficiencies and poor customer experiences that demand an automated solution.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10664651" y="5357812"/>
            <a:ext cx="6752492" cy="2143125"/>
          </a:xfrm>
          <a:custGeom>
            <a:avLst/>
            <a:gdLst/>
            <a:ahLst/>
            <a:cxnLst/>
            <a:rect r="r" b="b" t="t" l="l"/>
            <a:pathLst>
              <a:path h="2143125" w="6752492">
                <a:moveTo>
                  <a:pt x="0" y="0"/>
                </a:moveTo>
                <a:lnTo>
                  <a:pt x="6752492" y="0"/>
                </a:lnTo>
                <a:lnTo>
                  <a:pt x="6752492" y="2143126"/>
                </a:lnTo>
                <a:lnTo>
                  <a:pt x="0" y="2143126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0222523" y="5786438"/>
            <a:ext cx="1098620" cy="1285875"/>
          </a:xfrm>
          <a:custGeom>
            <a:avLst/>
            <a:gdLst/>
            <a:ahLst/>
            <a:cxnLst/>
            <a:rect r="r" b="b" t="t" l="l"/>
            <a:pathLst>
              <a:path h="1285875" w="1098620">
                <a:moveTo>
                  <a:pt x="0" y="0"/>
                </a:moveTo>
                <a:lnTo>
                  <a:pt x="1098620" y="0"/>
                </a:lnTo>
                <a:lnTo>
                  <a:pt x="1098620" y="1285874"/>
                </a:lnTo>
                <a:lnTo>
                  <a:pt x="0" y="1285874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0450286" y="6000750"/>
            <a:ext cx="656492" cy="857250"/>
          </a:xfrm>
          <a:custGeom>
            <a:avLst/>
            <a:gdLst/>
            <a:ahLst/>
            <a:cxnLst/>
            <a:rect r="r" b="b" t="t" l="l"/>
            <a:pathLst>
              <a:path h="857250" w="656492">
                <a:moveTo>
                  <a:pt x="0" y="0"/>
                </a:moveTo>
                <a:lnTo>
                  <a:pt x="656492" y="0"/>
                </a:lnTo>
                <a:lnTo>
                  <a:pt x="656492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11594592" y="6281297"/>
            <a:ext cx="5449824" cy="893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8"/>
              </a:lnSpc>
            </a:pPr>
            <a:r>
              <a:rPr lang="en-US" sz="1990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rPr>
              <a:t>Repetitive tasks consume valuable time and resources when handled manually, reducing overall productivity and efficiency.</a:t>
            </a:r>
          </a:p>
        </p:txBody>
      </p:sp>
      <p:sp>
        <p:nvSpPr>
          <p:cNvPr name="Freeform 31" id="31"/>
          <p:cNvSpPr/>
          <p:nvPr/>
        </p:nvSpPr>
        <p:spPr>
          <a:xfrm flipH="false" flipV="false" rot="0">
            <a:off x="10664651" y="7500938"/>
            <a:ext cx="6752492" cy="2143125"/>
          </a:xfrm>
          <a:custGeom>
            <a:avLst/>
            <a:gdLst/>
            <a:ahLst/>
            <a:cxnLst/>
            <a:rect r="r" b="b" t="t" l="l"/>
            <a:pathLst>
              <a:path h="2143125" w="6752492">
                <a:moveTo>
                  <a:pt x="0" y="0"/>
                </a:moveTo>
                <a:lnTo>
                  <a:pt x="6752492" y="0"/>
                </a:lnTo>
                <a:lnTo>
                  <a:pt x="6752492" y="2143124"/>
                </a:lnTo>
                <a:lnTo>
                  <a:pt x="0" y="2143124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10222523" y="7929562"/>
            <a:ext cx="1098620" cy="1285875"/>
          </a:xfrm>
          <a:custGeom>
            <a:avLst/>
            <a:gdLst/>
            <a:ahLst/>
            <a:cxnLst/>
            <a:rect r="r" b="b" t="t" l="l"/>
            <a:pathLst>
              <a:path h="1285875" w="1098620">
                <a:moveTo>
                  <a:pt x="0" y="0"/>
                </a:moveTo>
                <a:lnTo>
                  <a:pt x="1098620" y="0"/>
                </a:lnTo>
                <a:lnTo>
                  <a:pt x="1098620" y="1285876"/>
                </a:lnTo>
                <a:lnTo>
                  <a:pt x="0" y="1285876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10450286" y="8143875"/>
            <a:ext cx="656492" cy="857250"/>
          </a:xfrm>
          <a:custGeom>
            <a:avLst/>
            <a:gdLst/>
            <a:ahLst/>
            <a:cxnLst/>
            <a:rect r="r" b="b" t="t" l="l"/>
            <a:pathLst>
              <a:path h="857250" w="656492">
                <a:moveTo>
                  <a:pt x="0" y="0"/>
                </a:moveTo>
                <a:lnTo>
                  <a:pt x="656492" y="0"/>
                </a:lnTo>
                <a:lnTo>
                  <a:pt x="656492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 l="0" t="0" r="0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11594592" y="7824293"/>
            <a:ext cx="3456432" cy="317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8"/>
              </a:lnSpc>
            </a:pPr>
            <a:r>
              <a:rPr lang="en-US" sz="2040" b="true">
                <a:solidFill>
                  <a:srgbClr val="FFFFFF"/>
                </a:solidFill>
                <a:latin typeface="Ubuntu Bold"/>
                <a:ea typeface="Ubuntu Bold"/>
                <a:cs typeface="Ubuntu Bold"/>
                <a:sym typeface="Ubuntu Bold"/>
              </a:rPr>
              <a:t>Difficulty Tracking Inquiries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1594592" y="8348984"/>
            <a:ext cx="5669280" cy="893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8"/>
              </a:lnSpc>
            </a:pPr>
            <a:r>
              <a:rPr lang="en-US" sz="1990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rPr>
              <a:t>Monitoring inquiry status and history becomes nearly impossible without a centralized tracking system in place.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042416" y="981055"/>
            <a:ext cx="1645920" cy="727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6"/>
              </a:lnSpc>
            </a:pPr>
            <a:r>
              <a:rPr lang="en-US" sz="2090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rPr>
              <a:t>She4Tech AI Chatbot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4133088" y="768755"/>
            <a:ext cx="10186416" cy="1728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162"/>
              </a:lnSpc>
            </a:pPr>
            <a:r>
              <a:rPr lang="en-US" sz="10115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PROBLEM STATEMENT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6221456" y="975507"/>
            <a:ext cx="1042416" cy="388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35"/>
              </a:lnSpc>
            </a:pPr>
            <a:r>
              <a:rPr lang="en-US" sz="2239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rPr>
              <a:t>Page 03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938528" y="5757368"/>
            <a:ext cx="2633472" cy="327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8"/>
              </a:lnSpc>
            </a:pPr>
            <a:r>
              <a:rPr lang="en-US" sz="2090" b="true">
                <a:solidFill>
                  <a:srgbClr val="FFFFFF"/>
                </a:solidFill>
                <a:latin typeface="Ubuntu Bold"/>
                <a:ea typeface="Ubuntu Bold"/>
                <a:cs typeface="Ubuntu Bold"/>
                <a:sym typeface="Ubuntu Bold"/>
              </a:rPr>
              <a:t>Slow Response Time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1594592" y="5766893"/>
            <a:ext cx="2468880" cy="317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8"/>
              </a:lnSpc>
            </a:pPr>
            <a:r>
              <a:rPr lang="en-US" sz="2040" b="true">
                <a:solidFill>
                  <a:srgbClr val="FFFFFF"/>
                </a:solidFill>
                <a:latin typeface="Ubuntu Bold"/>
                <a:ea typeface="Ubuntu Bold"/>
                <a:cs typeface="Ubuntu Bold"/>
                <a:sym typeface="Ubuntu Bold"/>
              </a:rPr>
              <a:t>Lack of Automation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225143" y="0"/>
            <a:ext cx="4354286" cy="1714500"/>
          </a:xfrm>
          <a:custGeom>
            <a:avLst/>
            <a:gdLst/>
            <a:ahLst/>
            <a:cxnLst/>
            <a:rect r="r" b="b" t="t" l="l"/>
            <a:pathLst>
              <a:path h="1714500" w="4354286">
                <a:moveTo>
                  <a:pt x="0" y="0"/>
                </a:moveTo>
                <a:lnTo>
                  <a:pt x="4354286" y="0"/>
                </a:lnTo>
                <a:lnTo>
                  <a:pt x="4354286" y="1714500"/>
                </a:lnTo>
                <a:lnTo>
                  <a:pt x="0" y="17145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70857" y="8572500"/>
            <a:ext cx="4139921" cy="1714500"/>
          </a:xfrm>
          <a:custGeom>
            <a:avLst/>
            <a:gdLst/>
            <a:ahLst/>
            <a:cxnLst/>
            <a:rect r="r" b="b" t="t" l="l"/>
            <a:pathLst>
              <a:path h="1714500" w="4139921">
                <a:moveTo>
                  <a:pt x="0" y="0"/>
                </a:moveTo>
                <a:lnTo>
                  <a:pt x="4139921" y="0"/>
                </a:lnTo>
                <a:lnTo>
                  <a:pt x="4139921" y="1714500"/>
                </a:lnTo>
                <a:lnTo>
                  <a:pt x="0" y="17145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450286" y="0"/>
            <a:ext cx="1098620" cy="857250"/>
          </a:xfrm>
          <a:custGeom>
            <a:avLst/>
            <a:gdLst/>
            <a:ahLst/>
            <a:cxnLst/>
            <a:rect r="r" b="b" t="t" l="l"/>
            <a:pathLst>
              <a:path h="857250" w="1098620">
                <a:moveTo>
                  <a:pt x="0" y="0"/>
                </a:moveTo>
                <a:lnTo>
                  <a:pt x="1098619" y="0"/>
                </a:lnTo>
                <a:lnTo>
                  <a:pt x="1098619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705952" y="428625"/>
            <a:ext cx="1326382" cy="1285875"/>
          </a:xfrm>
          <a:custGeom>
            <a:avLst/>
            <a:gdLst/>
            <a:ahLst/>
            <a:cxnLst/>
            <a:rect r="r" b="b" t="t" l="l"/>
            <a:pathLst>
              <a:path h="1285875" w="1326382">
                <a:moveTo>
                  <a:pt x="0" y="0"/>
                </a:moveTo>
                <a:lnTo>
                  <a:pt x="1326382" y="0"/>
                </a:lnTo>
                <a:lnTo>
                  <a:pt x="1326382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0" y="2571750"/>
            <a:ext cx="870857" cy="1285875"/>
          </a:xfrm>
          <a:custGeom>
            <a:avLst/>
            <a:gdLst/>
            <a:ahLst/>
            <a:cxnLst/>
            <a:rect r="r" b="b" t="t" l="l"/>
            <a:pathLst>
              <a:path h="1285875" w="870857">
                <a:moveTo>
                  <a:pt x="0" y="0"/>
                </a:moveTo>
                <a:lnTo>
                  <a:pt x="870857" y="0"/>
                </a:lnTo>
                <a:lnTo>
                  <a:pt x="870857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697793" y="2143125"/>
            <a:ext cx="1098620" cy="1071562"/>
          </a:xfrm>
          <a:custGeom>
            <a:avLst/>
            <a:gdLst/>
            <a:ahLst/>
            <a:cxnLst/>
            <a:rect r="r" b="b" t="t" l="l"/>
            <a:pathLst>
              <a:path h="1071562" w="1098620">
                <a:moveTo>
                  <a:pt x="0" y="0"/>
                </a:moveTo>
                <a:lnTo>
                  <a:pt x="1098620" y="0"/>
                </a:lnTo>
                <a:lnTo>
                  <a:pt x="1098620" y="1071563"/>
                </a:lnTo>
                <a:lnTo>
                  <a:pt x="0" y="107156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966857" y="2786062"/>
            <a:ext cx="1098620" cy="857250"/>
          </a:xfrm>
          <a:custGeom>
            <a:avLst/>
            <a:gdLst/>
            <a:ahLst/>
            <a:cxnLst/>
            <a:rect r="r" b="b" t="t" l="l"/>
            <a:pathLst>
              <a:path h="857250" w="1098620">
                <a:moveTo>
                  <a:pt x="0" y="0"/>
                </a:moveTo>
                <a:lnTo>
                  <a:pt x="1098620" y="0"/>
                </a:lnTo>
                <a:lnTo>
                  <a:pt x="109862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008158" y="3643312"/>
            <a:ext cx="442127" cy="428625"/>
          </a:xfrm>
          <a:custGeom>
            <a:avLst/>
            <a:gdLst/>
            <a:ahLst/>
            <a:cxnLst/>
            <a:rect r="r" b="b" t="t" l="l"/>
            <a:pathLst>
              <a:path h="428625" w="442127">
                <a:moveTo>
                  <a:pt x="0" y="0"/>
                </a:moveTo>
                <a:lnTo>
                  <a:pt x="442128" y="0"/>
                </a:lnTo>
                <a:lnTo>
                  <a:pt x="442128" y="428626"/>
                </a:lnTo>
                <a:lnTo>
                  <a:pt x="0" y="42862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0" y="7286625"/>
            <a:ext cx="442127" cy="1071562"/>
          </a:xfrm>
          <a:custGeom>
            <a:avLst/>
            <a:gdLst/>
            <a:ahLst/>
            <a:cxnLst/>
            <a:rect r="r" b="b" t="t" l="l"/>
            <a:pathLst>
              <a:path h="1071562" w="442127">
                <a:moveTo>
                  <a:pt x="0" y="0"/>
                </a:moveTo>
                <a:lnTo>
                  <a:pt x="442127" y="0"/>
                </a:lnTo>
                <a:lnTo>
                  <a:pt x="442127" y="1071563"/>
                </a:lnTo>
                <a:lnTo>
                  <a:pt x="0" y="107156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3255666" y="7929562"/>
            <a:ext cx="1098620" cy="1071562"/>
          </a:xfrm>
          <a:custGeom>
            <a:avLst/>
            <a:gdLst/>
            <a:ahLst/>
            <a:cxnLst/>
            <a:rect r="r" b="b" t="t" l="l"/>
            <a:pathLst>
              <a:path h="1071562" w="1098620">
                <a:moveTo>
                  <a:pt x="0" y="0"/>
                </a:moveTo>
                <a:lnTo>
                  <a:pt x="1098620" y="0"/>
                </a:lnTo>
                <a:lnTo>
                  <a:pt x="1098620" y="1071563"/>
                </a:lnTo>
                <a:lnTo>
                  <a:pt x="0" y="107156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6096000" y="8786812"/>
            <a:ext cx="1741714" cy="1500188"/>
          </a:xfrm>
          <a:custGeom>
            <a:avLst/>
            <a:gdLst/>
            <a:ahLst/>
            <a:cxnLst/>
            <a:rect r="r" b="b" t="t" l="l"/>
            <a:pathLst>
              <a:path h="1500188" w="1741714">
                <a:moveTo>
                  <a:pt x="0" y="0"/>
                </a:moveTo>
                <a:lnTo>
                  <a:pt x="1741714" y="0"/>
                </a:lnTo>
                <a:lnTo>
                  <a:pt x="1741714" y="1500188"/>
                </a:lnTo>
                <a:lnTo>
                  <a:pt x="0" y="1500188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9579429" y="7715250"/>
            <a:ext cx="870857" cy="857250"/>
          </a:xfrm>
          <a:custGeom>
            <a:avLst/>
            <a:gdLst/>
            <a:ahLst/>
            <a:cxnLst/>
            <a:rect r="r" b="b" t="t" l="l"/>
            <a:pathLst>
              <a:path h="857250" w="870857">
                <a:moveTo>
                  <a:pt x="0" y="0"/>
                </a:moveTo>
                <a:lnTo>
                  <a:pt x="870857" y="0"/>
                </a:lnTo>
                <a:lnTo>
                  <a:pt x="870857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3491587" y="9644062"/>
            <a:ext cx="1098620" cy="642938"/>
          </a:xfrm>
          <a:custGeom>
            <a:avLst/>
            <a:gdLst/>
            <a:ahLst/>
            <a:cxnLst/>
            <a:rect r="r" b="b" t="t" l="l"/>
            <a:pathLst>
              <a:path h="642938" w="1098620">
                <a:moveTo>
                  <a:pt x="0" y="0"/>
                </a:moveTo>
                <a:lnTo>
                  <a:pt x="1098620" y="0"/>
                </a:lnTo>
                <a:lnTo>
                  <a:pt x="1098620" y="642938"/>
                </a:lnTo>
                <a:lnTo>
                  <a:pt x="0" y="642938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7631508" y="5786438"/>
            <a:ext cx="656492" cy="1285875"/>
          </a:xfrm>
          <a:custGeom>
            <a:avLst/>
            <a:gdLst/>
            <a:ahLst/>
            <a:cxnLst/>
            <a:rect r="r" b="b" t="t" l="l"/>
            <a:pathLst>
              <a:path h="1285875" w="656492">
                <a:moveTo>
                  <a:pt x="0" y="0"/>
                </a:moveTo>
                <a:lnTo>
                  <a:pt x="656492" y="0"/>
                </a:lnTo>
                <a:lnTo>
                  <a:pt x="656492" y="1285874"/>
                </a:lnTo>
                <a:lnTo>
                  <a:pt x="0" y="1285874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0664651" y="1714500"/>
            <a:ext cx="6752492" cy="1928812"/>
          </a:xfrm>
          <a:custGeom>
            <a:avLst/>
            <a:gdLst/>
            <a:ahLst/>
            <a:cxnLst/>
            <a:rect r="r" b="b" t="t" l="l"/>
            <a:pathLst>
              <a:path h="1928812" w="6752492">
                <a:moveTo>
                  <a:pt x="0" y="0"/>
                </a:moveTo>
                <a:lnTo>
                  <a:pt x="6752492" y="0"/>
                </a:lnTo>
                <a:lnTo>
                  <a:pt x="6752492" y="1928812"/>
                </a:lnTo>
                <a:lnTo>
                  <a:pt x="0" y="1928812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0450286" y="2143125"/>
            <a:ext cx="870857" cy="1071562"/>
          </a:xfrm>
          <a:custGeom>
            <a:avLst/>
            <a:gdLst/>
            <a:ahLst/>
            <a:cxnLst/>
            <a:rect r="r" b="b" t="t" l="l"/>
            <a:pathLst>
              <a:path h="1071562" w="870857">
                <a:moveTo>
                  <a:pt x="0" y="0"/>
                </a:moveTo>
                <a:lnTo>
                  <a:pt x="870857" y="0"/>
                </a:lnTo>
                <a:lnTo>
                  <a:pt x="870857" y="1071563"/>
                </a:lnTo>
                <a:lnTo>
                  <a:pt x="0" y="1071563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1594592" y="1941090"/>
            <a:ext cx="2249424" cy="380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5"/>
              </a:lnSpc>
            </a:pPr>
            <a:r>
              <a:rPr lang="en-US" sz="2189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General Objective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594592" y="2601611"/>
            <a:ext cx="5705856" cy="456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4"/>
              </a:lnSpc>
            </a:pPr>
            <a:r>
              <a:rPr lang="en-US" sz="144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Develop a chatbot inquiry management system using Object-Oriented Programming concepts in C++.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10664651" y="3643312"/>
            <a:ext cx="6752492" cy="1928812"/>
          </a:xfrm>
          <a:custGeom>
            <a:avLst/>
            <a:gdLst/>
            <a:ahLst/>
            <a:cxnLst/>
            <a:rect r="r" b="b" t="t" l="l"/>
            <a:pathLst>
              <a:path h="1928812" w="6752492">
                <a:moveTo>
                  <a:pt x="0" y="0"/>
                </a:moveTo>
                <a:lnTo>
                  <a:pt x="6752492" y="0"/>
                </a:lnTo>
                <a:lnTo>
                  <a:pt x="6752492" y="1928813"/>
                </a:lnTo>
                <a:lnTo>
                  <a:pt x="0" y="1928813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0450286" y="4286250"/>
            <a:ext cx="870857" cy="857250"/>
          </a:xfrm>
          <a:custGeom>
            <a:avLst/>
            <a:gdLst/>
            <a:ahLst/>
            <a:cxnLst/>
            <a:rect r="r" b="b" t="t" l="l"/>
            <a:pathLst>
              <a:path h="857250" w="870857">
                <a:moveTo>
                  <a:pt x="0" y="0"/>
                </a:moveTo>
                <a:lnTo>
                  <a:pt x="870857" y="0"/>
                </a:lnTo>
                <a:lnTo>
                  <a:pt x="870857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1594592" y="3864759"/>
            <a:ext cx="2450592" cy="380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5"/>
              </a:lnSpc>
            </a:pPr>
            <a:r>
              <a:rPr lang="en-US" sz="2189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Specific Objectives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594592" y="4429297"/>
            <a:ext cx="4828032" cy="937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2"/>
              </a:lnSpc>
            </a:pPr>
            <a:r>
              <a:rPr lang="en-US" sz="194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Create an interactive chatbot interface, store customer inquiries efficiently, and generate comprehensive reports.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10664651" y="5572125"/>
            <a:ext cx="6752492" cy="1928812"/>
          </a:xfrm>
          <a:custGeom>
            <a:avLst/>
            <a:gdLst/>
            <a:ahLst/>
            <a:cxnLst/>
            <a:rect r="r" b="b" t="t" l="l"/>
            <a:pathLst>
              <a:path h="1928812" w="6752492">
                <a:moveTo>
                  <a:pt x="0" y="0"/>
                </a:moveTo>
                <a:lnTo>
                  <a:pt x="6752492" y="0"/>
                </a:lnTo>
                <a:lnTo>
                  <a:pt x="6752492" y="1928813"/>
                </a:lnTo>
                <a:lnTo>
                  <a:pt x="0" y="1928813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0450286" y="6215062"/>
            <a:ext cx="870857" cy="857250"/>
          </a:xfrm>
          <a:custGeom>
            <a:avLst/>
            <a:gdLst/>
            <a:ahLst/>
            <a:cxnLst/>
            <a:rect r="r" b="b" t="t" l="l"/>
            <a:pathLst>
              <a:path h="857250" w="870857">
                <a:moveTo>
                  <a:pt x="0" y="0"/>
                </a:moveTo>
                <a:lnTo>
                  <a:pt x="870857" y="0"/>
                </a:lnTo>
                <a:lnTo>
                  <a:pt x="870857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11594592" y="5825353"/>
            <a:ext cx="3236976" cy="368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139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Technical Implementation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594592" y="6383827"/>
            <a:ext cx="5084064" cy="937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2"/>
              </a:lnSpc>
            </a:pPr>
            <a:r>
              <a:rPr lang="en-US" sz="194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Apply file handling for data persistence and implement secure admin access with password authentication.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10664651" y="7500938"/>
            <a:ext cx="6752492" cy="1928812"/>
          </a:xfrm>
          <a:custGeom>
            <a:avLst/>
            <a:gdLst/>
            <a:ahLst/>
            <a:cxnLst/>
            <a:rect r="r" b="b" t="t" l="l"/>
            <a:pathLst>
              <a:path h="1928812" w="6752492">
                <a:moveTo>
                  <a:pt x="0" y="0"/>
                </a:moveTo>
                <a:lnTo>
                  <a:pt x="6752492" y="0"/>
                </a:lnTo>
                <a:lnTo>
                  <a:pt x="6752492" y="1928812"/>
                </a:lnTo>
                <a:lnTo>
                  <a:pt x="0" y="1928812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0450286" y="8143875"/>
            <a:ext cx="870857" cy="857250"/>
          </a:xfrm>
          <a:custGeom>
            <a:avLst/>
            <a:gdLst/>
            <a:ahLst/>
            <a:cxnLst/>
            <a:rect r="r" b="b" t="t" l="l"/>
            <a:pathLst>
              <a:path h="857250" w="870857">
                <a:moveTo>
                  <a:pt x="0" y="0"/>
                </a:moveTo>
                <a:lnTo>
                  <a:pt x="870857" y="0"/>
                </a:lnTo>
                <a:lnTo>
                  <a:pt x="870857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11594592" y="7742958"/>
            <a:ext cx="2468880" cy="380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5"/>
              </a:lnSpc>
            </a:pPr>
            <a:r>
              <a:rPr lang="en-US" sz="2189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Learning Outcomes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1594592" y="8307496"/>
            <a:ext cx="5376672" cy="937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2"/>
              </a:lnSpc>
            </a:pPr>
            <a:r>
              <a:rPr lang="en-US" sz="194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Demonstrate mastery of OOP principles including encapsulation, classes, and methods in a practical C++ application.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24128" y="990580"/>
            <a:ext cx="2029968" cy="717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6"/>
              </a:lnSpc>
            </a:pPr>
            <a:r>
              <a:rPr lang="en-US" sz="209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She4Tech AI Chatbot System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24128" y="3208791"/>
            <a:ext cx="9426158" cy="2565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84"/>
              </a:lnSpc>
            </a:pPr>
            <a:r>
              <a:rPr lang="en-US" sz="14989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OBJECTIVES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24128" y="5920823"/>
            <a:ext cx="6803136" cy="16728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47"/>
              </a:lnSpc>
            </a:pPr>
            <a:r>
              <a:rPr lang="en-US" sz="239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Clear statement of the general and specific goals that guide the development of the She4Tech AI Chatbot System using Object-Oriented Programming principles.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6203168" y="975507"/>
            <a:ext cx="1060704" cy="388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35"/>
              </a:lnSpc>
            </a:pPr>
            <a:r>
              <a:rPr lang="en-US" sz="223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Page 04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0789920" y="2387733"/>
            <a:ext cx="182880" cy="601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10"/>
              </a:lnSpc>
            </a:pPr>
            <a:r>
              <a:rPr lang="en-US" sz="3435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1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0789920" y="4311402"/>
            <a:ext cx="256032" cy="601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10"/>
              </a:lnSpc>
            </a:pPr>
            <a:r>
              <a:rPr lang="en-US" sz="3435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2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0789920" y="6265932"/>
            <a:ext cx="256032" cy="601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10"/>
              </a:lnSpc>
            </a:pPr>
            <a:r>
              <a:rPr lang="en-US" sz="3435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3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0789920" y="8189601"/>
            <a:ext cx="256032" cy="601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10"/>
              </a:lnSpc>
            </a:pPr>
            <a:r>
              <a:rPr lang="en-US" sz="3435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783015" y="0"/>
            <a:ext cx="1098620" cy="642938"/>
          </a:xfrm>
          <a:custGeom>
            <a:avLst/>
            <a:gdLst/>
            <a:ahLst/>
            <a:cxnLst/>
            <a:rect r="r" b="b" t="t" l="l"/>
            <a:pathLst>
              <a:path h="642938" w="1098620">
                <a:moveTo>
                  <a:pt x="0" y="0"/>
                </a:moveTo>
                <a:lnTo>
                  <a:pt x="1098620" y="0"/>
                </a:lnTo>
                <a:lnTo>
                  <a:pt x="1098620" y="642938"/>
                </a:lnTo>
                <a:lnTo>
                  <a:pt x="0" y="6429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491587" y="0"/>
            <a:ext cx="1755112" cy="857250"/>
          </a:xfrm>
          <a:custGeom>
            <a:avLst/>
            <a:gdLst/>
            <a:ahLst/>
            <a:cxnLst/>
            <a:rect r="r" b="b" t="t" l="l"/>
            <a:pathLst>
              <a:path h="857250" w="1755112">
                <a:moveTo>
                  <a:pt x="0" y="0"/>
                </a:moveTo>
                <a:lnTo>
                  <a:pt x="1755112" y="0"/>
                </a:lnTo>
                <a:lnTo>
                  <a:pt x="1755112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793793" y="857250"/>
            <a:ext cx="656492" cy="642938"/>
          </a:xfrm>
          <a:custGeom>
            <a:avLst/>
            <a:gdLst/>
            <a:ahLst/>
            <a:cxnLst/>
            <a:rect r="r" b="b" t="t" l="l"/>
            <a:pathLst>
              <a:path h="642938" w="656492">
                <a:moveTo>
                  <a:pt x="0" y="0"/>
                </a:moveTo>
                <a:lnTo>
                  <a:pt x="656493" y="0"/>
                </a:lnTo>
                <a:lnTo>
                  <a:pt x="656493" y="642938"/>
                </a:lnTo>
                <a:lnTo>
                  <a:pt x="0" y="64293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546286" y="3429000"/>
            <a:ext cx="870857" cy="857250"/>
          </a:xfrm>
          <a:custGeom>
            <a:avLst/>
            <a:gdLst/>
            <a:ahLst/>
            <a:cxnLst/>
            <a:rect r="r" b="b" t="t" l="l"/>
            <a:pathLst>
              <a:path h="857250" w="870857">
                <a:moveTo>
                  <a:pt x="0" y="0"/>
                </a:moveTo>
                <a:lnTo>
                  <a:pt x="870857" y="0"/>
                </a:lnTo>
                <a:lnTo>
                  <a:pt x="870857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0" y="2357438"/>
            <a:ext cx="656492" cy="1285875"/>
          </a:xfrm>
          <a:custGeom>
            <a:avLst/>
            <a:gdLst/>
            <a:ahLst/>
            <a:cxnLst/>
            <a:rect r="r" b="b" t="t" l="l"/>
            <a:pathLst>
              <a:path h="1285875" w="656492">
                <a:moveTo>
                  <a:pt x="0" y="0"/>
                </a:moveTo>
                <a:lnTo>
                  <a:pt x="656492" y="0"/>
                </a:lnTo>
                <a:lnTo>
                  <a:pt x="656492" y="1285874"/>
                </a:lnTo>
                <a:lnTo>
                  <a:pt x="0" y="128587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0" y="4286250"/>
            <a:ext cx="656492" cy="857250"/>
          </a:xfrm>
          <a:custGeom>
            <a:avLst/>
            <a:gdLst/>
            <a:ahLst/>
            <a:cxnLst/>
            <a:rect r="r" b="b" t="t" l="l"/>
            <a:pathLst>
              <a:path h="857250" w="656492">
                <a:moveTo>
                  <a:pt x="0" y="0"/>
                </a:moveTo>
                <a:lnTo>
                  <a:pt x="656492" y="0"/>
                </a:lnTo>
                <a:lnTo>
                  <a:pt x="656492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739095" y="9644062"/>
            <a:ext cx="1540747" cy="642938"/>
          </a:xfrm>
          <a:custGeom>
            <a:avLst/>
            <a:gdLst/>
            <a:ahLst/>
            <a:cxnLst/>
            <a:rect r="r" b="b" t="t" l="l"/>
            <a:pathLst>
              <a:path h="642938" w="1540747">
                <a:moveTo>
                  <a:pt x="0" y="0"/>
                </a:moveTo>
                <a:lnTo>
                  <a:pt x="1540747" y="0"/>
                </a:lnTo>
                <a:lnTo>
                  <a:pt x="1540747" y="642938"/>
                </a:lnTo>
                <a:lnTo>
                  <a:pt x="0" y="64293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7189380" y="3643312"/>
            <a:ext cx="1098620" cy="1928812"/>
          </a:xfrm>
          <a:custGeom>
            <a:avLst/>
            <a:gdLst/>
            <a:ahLst/>
            <a:cxnLst/>
            <a:rect r="r" b="b" t="t" l="l"/>
            <a:pathLst>
              <a:path h="1928812" w="1098620">
                <a:moveTo>
                  <a:pt x="0" y="0"/>
                </a:moveTo>
                <a:lnTo>
                  <a:pt x="1098620" y="0"/>
                </a:lnTo>
                <a:lnTo>
                  <a:pt x="1098620" y="1928813"/>
                </a:lnTo>
                <a:lnTo>
                  <a:pt x="0" y="192881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24128" y="1815390"/>
            <a:ext cx="7050933" cy="3028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240"/>
              </a:lnSpc>
            </a:pPr>
            <a:r>
              <a:rPr lang="en-US" sz="8742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FEATURES OF THE SYSTEM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994710" y="2616033"/>
            <a:ext cx="7194670" cy="1560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4"/>
              </a:lnSpc>
            </a:pPr>
            <a:r>
              <a:rPr lang="en-US" sz="2292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rPr>
              <a:t>The She4Tech AI Chatbot System incorporates eight powerful features designed to streamline customer inquiry management and demonstrate professional-grade C++ programming.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085222" y="5357812"/>
            <a:ext cx="7408985" cy="2143125"/>
          </a:xfrm>
          <a:custGeom>
            <a:avLst/>
            <a:gdLst/>
            <a:ahLst/>
            <a:cxnLst/>
            <a:rect r="r" b="b" t="t" l="l"/>
            <a:pathLst>
              <a:path h="2143125" w="7408985">
                <a:moveTo>
                  <a:pt x="0" y="0"/>
                </a:moveTo>
                <a:lnTo>
                  <a:pt x="7408985" y="0"/>
                </a:lnTo>
                <a:lnTo>
                  <a:pt x="7408985" y="2143126"/>
                </a:lnTo>
                <a:lnTo>
                  <a:pt x="0" y="214312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28730" y="5572125"/>
            <a:ext cx="1540747" cy="1714500"/>
          </a:xfrm>
          <a:custGeom>
            <a:avLst/>
            <a:gdLst/>
            <a:ahLst/>
            <a:cxnLst/>
            <a:rect r="r" b="b" t="t" l="l"/>
            <a:pathLst>
              <a:path h="1714500" w="1540747">
                <a:moveTo>
                  <a:pt x="0" y="0"/>
                </a:moveTo>
                <a:lnTo>
                  <a:pt x="1540747" y="0"/>
                </a:lnTo>
                <a:lnTo>
                  <a:pt x="1540747" y="1714500"/>
                </a:lnTo>
                <a:lnTo>
                  <a:pt x="0" y="171450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956816" y="6270737"/>
            <a:ext cx="5248656" cy="9272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5"/>
              </a:lnSpc>
            </a:pPr>
            <a:r>
              <a:rPr lang="en-US" sz="1840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rPr>
              <a:t>Intelligent AI-style responses provide automated, context-aware replies to customer questions instantly.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085222" y="7500938"/>
            <a:ext cx="7408985" cy="1928812"/>
          </a:xfrm>
          <a:custGeom>
            <a:avLst/>
            <a:gdLst/>
            <a:ahLst/>
            <a:cxnLst/>
            <a:rect r="r" b="b" t="t" l="l"/>
            <a:pathLst>
              <a:path h="1928812" w="7408985">
                <a:moveTo>
                  <a:pt x="0" y="0"/>
                </a:moveTo>
                <a:lnTo>
                  <a:pt x="7408985" y="0"/>
                </a:lnTo>
                <a:lnTo>
                  <a:pt x="7408985" y="1928812"/>
                </a:lnTo>
                <a:lnTo>
                  <a:pt x="0" y="1928812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428730" y="7715250"/>
            <a:ext cx="1540747" cy="1500188"/>
          </a:xfrm>
          <a:custGeom>
            <a:avLst/>
            <a:gdLst/>
            <a:ahLst/>
            <a:cxnLst/>
            <a:rect r="r" b="b" t="t" l="l"/>
            <a:pathLst>
              <a:path h="1500188" w="1540747">
                <a:moveTo>
                  <a:pt x="0" y="0"/>
                </a:moveTo>
                <a:lnTo>
                  <a:pt x="1540747" y="0"/>
                </a:lnTo>
                <a:lnTo>
                  <a:pt x="1540747" y="1500188"/>
                </a:lnTo>
                <a:lnTo>
                  <a:pt x="0" y="1500188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956816" y="7771725"/>
            <a:ext cx="3346704" cy="333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6"/>
              </a:lnSpc>
            </a:pPr>
            <a:r>
              <a:rPr lang="en-US" sz="1940" b="true">
                <a:solidFill>
                  <a:srgbClr val="FFFFFF"/>
                </a:solidFill>
                <a:latin typeface="Ubuntu Bold"/>
                <a:ea typeface="Ubuntu Bold"/>
                <a:cs typeface="Ubuntu Bold"/>
                <a:sym typeface="Ubuntu Bold"/>
              </a:rPr>
              <a:t>Summary Report Generation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956816" y="8326121"/>
            <a:ext cx="5303520" cy="6028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7"/>
              </a:lnSpc>
            </a:pPr>
            <a:r>
              <a:rPr lang="en-US" sz="1790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rPr>
              <a:t>Generates comprehensive summary reports of all customer inquiries for easy tracking and analysis.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10450286" y="5357812"/>
            <a:ext cx="6966857" cy="2143125"/>
          </a:xfrm>
          <a:custGeom>
            <a:avLst/>
            <a:gdLst/>
            <a:ahLst/>
            <a:cxnLst/>
            <a:rect r="r" b="b" t="t" l="l"/>
            <a:pathLst>
              <a:path h="2143125" w="6966857">
                <a:moveTo>
                  <a:pt x="0" y="0"/>
                </a:moveTo>
                <a:lnTo>
                  <a:pt x="6966857" y="0"/>
                </a:lnTo>
                <a:lnTo>
                  <a:pt x="6966857" y="2143126"/>
                </a:lnTo>
                <a:lnTo>
                  <a:pt x="0" y="2143126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9793793" y="5572125"/>
            <a:ext cx="1527349" cy="1714500"/>
          </a:xfrm>
          <a:custGeom>
            <a:avLst/>
            <a:gdLst/>
            <a:ahLst/>
            <a:cxnLst/>
            <a:rect r="r" b="b" t="t" l="l"/>
            <a:pathLst>
              <a:path h="1714500" w="1527349">
                <a:moveTo>
                  <a:pt x="0" y="0"/>
                </a:moveTo>
                <a:lnTo>
                  <a:pt x="1527350" y="0"/>
                </a:lnTo>
                <a:lnTo>
                  <a:pt x="1527350" y="1714500"/>
                </a:lnTo>
                <a:lnTo>
                  <a:pt x="0" y="171450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1594592" y="6270737"/>
            <a:ext cx="5285232" cy="9272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5"/>
              </a:lnSpc>
            </a:pPr>
            <a:r>
              <a:rPr lang="en-US" sz="1840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rPr>
              <a:t>Secure admin login with password authentication protects sensitive data and restricted system features.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10450286" y="7500938"/>
            <a:ext cx="6966857" cy="1928812"/>
          </a:xfrm>
          <a:custGeom>
            <a:avLst/>
            <a:gdLst/>
            <a:ahLst/>
            <a:cxnLst/>
            <a:rect r="r" b="b" t="t" l="l"/>
            <a:pathLst>
              <a:path h="1928812" w="6966857">
                <a:moveTo>
                  <a:pt x="0" y="0"/>
                </a:moveTo>
                <a:lnTo>
                  <a:pt x="6966857" y="0"/>
                </a:lnTo>
                <a:lnTo>
                  <a:pt x="6966857" y="1928812"/>
                </a:lnTo>
                <a:lnTo>
                  <a:pt x="0" y="1928812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9793793" y="7715250"/>
            <a:ext cx="1527349" cy="1500188"/>
          </a:xfrm>
          <a:custGeom>
            <a:avLst/>
            <a:gdLst/>
            <a:ahLst/>
            <a:cxnLst/>
            <a:rect r="r" b="b" t="t" l="l"/>
            <a:pathLst>
              <a:path h="1500188" w="1527349">
                <a:moveTo>
                  <a:pt x="0" y="0"/>
                </a:moveTo>
                <a:lnTo>
                  <a:pt x="1527350" y="0"/>
                </a:lnTo>
                <a:lnTo>
                  <a:pt x="1527350" y="1500188"/>
                </a:lnTo>
                <a:lnTo>
                  <a:pt x="0" y="1500188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1594592" y="7761567"/>
            <a:ext cx="2834640" cy="343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6"/>
              </a:lnSpc>
            </a:pPr>
            <a:r>
              <a:rPr lang="en-US" sz="1890" b="true">
                <a:solidFill>
                  <a:srgbClr val="FFFFFF"/>
                </a:solidFill>
                <a:latin typeface="Ubuntu Bold"/>
                <a:ea typeface="Ubuntu Bold"/>
                <a:cs typeface="Ubuntu Bold"/>
                <a:sym typeface="Ubuntu Bold"/>
              </a:rPr>
              <a:t>Typing Effect Animation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594592" y="8326121"/>
            <a:ext cx="5705856" cy="6028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7"/>
              </a:lnSpc>
            </a:pPr>
            <a:r>
              <a:rPr lang="en-US" sz="1790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rPr>
              <a:t>Typing effect animation creates realistic conversation feel, enhancing user experience and engagement.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24128" y="976715"/>
            <a:ext cx="2542032" cy="365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6"/>
              </a:lnSpc>
            </a:pPr>
            <a:r>
              <a:rPr lang="en-US" sz="2090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rPr>
              <a:t>She4Tech AI Chatbot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6276320" y="976715"/>
            <a:ext cx="987552" cy="365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26"/>
              </a:lnSpc>
            </a:pPr>
            <a:r>
              <a:rPr lang="en-US" sz="2090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rPr>
              <a:t>Page 05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956816" y="5714325"/>
            <a:ext cx="3328416" cy="333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6"/>
              </a:lnSpc>
            </a:pPr>
            <a:r>
              <a:rPr lang="en-US" sz="1940" b="true">
                <a:solidFill>
                  <a:srgbClr val="FFFFFF"/>
                </a:solidFill>
                <a:latin typeface="Ubuntu Bold"/>
                <a:ea typeface="Ubuntu Bold"/>
                <a:cs typeface="Ubuntu Bold"/>
                <a:sym typeface="Ubuntu Bold"/>
              </a:rPr>
              <a:t>AI-Style Chatbot Responses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594592" y="5714325"/>
            <a:ext cx="2523744" cy="333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6"/>
              </a:lnSpc>
            </a:pPr>
            <a:r>
              <a:rPr lang="en-US" sz="1940" b="true">
                <a:solidFill>
                  <a:srgbClr val="FFFFFF"/>
                </a:solidFill>
                <a:latin typeface="Ubuntu Bold"/>
                <a:ea typeface="Ubuntu Bold"/>
                <a:cs typeface="Ubuntu Bold"/>
                <a:sym typeface="Ubuntu Bold"/>
              </a:rPr>
              <a:t>Admin Login Security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92000" y="-108000"/>
            <a:ext cx="18672000" cy="10503000"/>
          </a:xfrm>
          <a:custGeom>
            <a:avLst/>
            <a:gdLst/>
            <a:ahLst/>
            <a:cxnLst/>
            <a:rect r="r" b="b" t="t" l="l"/>
            <a:pathLst>
              <a:path h="10503000" w="18672000">
                <a:moveTo>
                  <a:pt x="0" y="0"/>
                </a:moveTo>
                <a:lnTo>
                  <a:pt x="18672000" y="0"/>
                </a:lnTo>
                <a:lnTo>
                  <a:pt x="18672000" y="10503000"/>
                </a:lnTo>
                <a:lnTo>
                  <a:pt x="0" y="10503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361723" y="-108000"/>
            <a:ext cx="4226848" cy="1750500"/>
          </a:xfrm>
          <a:custGeom>
            <a:avLst/>
            <a:gdLst/>
            <a:ahLst/>
            <a:cxnLst/>
            <a:rect r="r" b="b" t="t" l="l"/>
            <a:pathLst>
              <a:path h="1750500" w="4226848">
                <a:moveTo>
                  <a:pt x="0" y="0"/>
                </a:moveTo>
                <a:lnTo>
                  <a:pt x="4226848" y="0"/>
                </a:lnTo>
                <a:lnTo>
                  <a:pt x="4226848" y="1750500"/>
                </a:lnTo>
                <a:lnTo>
                  <a:pt x="0" y="17505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92000" y="7112813"/>
            <a:ext cx="889143" cy="1094063"/>
          </a:xfrm>
          <a:custGeom>
            <a:avLst/>
            <a:gdLst/>
            <a:ahLst/>
            <a:cxnLst/>
            <a:rect r="r" b="b" t="t" l="l"/>
            <a:pathLst>
              <a:path h="1094063" w="889143">
                <a:moveTo>
                  <a:pt x="0" y="0"/>
                </a:moveTo>
                <a:lnTo>
                  <a:pt x="889143" y="0"/>
                </a:lnTo>
                <a:lnTo>
                  <a:pt x="889143" y="1094062"/>
                </a:lnTo>
                <a:lnTo>
                  <a:pt x="0" y="10940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97143" y="8644500"/>
            <a:ext cx="4226848" cy="1750500"/>
          </a:xfrm>
          <a:custGeom>
            <a:avLst/>
            <a:gdLst/>
            <a:ahLst/>
            <a:cxnLst/>
            <a:rect r="r" b="b" t="t" l="l"/>
            <a:pathLst>
              <a:path h="1750500" w="4226848">
                <a:moveTo>
                  <a:pt x="0" y="0"/>
                </a:moveTo>
                <a:lnTo>
                  <a:pt x="4226848" y="0"/>
                </a:lnTo>
                <a:lnTo>
                  <a:pt x="4226848" y="1750500"/>
                </a:lnTo>
                <a:lnTo>
                  <a:pt x="0" y="17505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7358312" y="7331625"/>
            <a:ext cx="902822" cy="875250"/>
          </a:xfrm>
          <a:custGeom>
            <a:avLst/>
            <a:gdLst/>
            <a:ahLst/>
            <a:cxnLst/>
            <a:rect r="r" b="b" t="t" l="l"/>
            <a:pathLst>
              <a:path h="875250" w="902822">
                <a:moveTo>
                  <a:pt x="0" y="0"/>
                </a:moveTo>
                <a:lnTo>
                  <a:pt x="902822" y="0"/>
                </a:lnTo>
                <a:lnTo>
                  <a:pt x="902822" y="875250"/>
                </a:lnTo>
                <a:lnTo>
                  <a:pt x="0" y="8752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253714" y="1204875"/>
            <a:ext cx="889143" cy="875250"/>
          </a:xfrm>
          <a:custGeom>
            <a:avLst/>
            <a:gdLst/>
            <a:ahLst/>
            <a:cxnLst/>
            <a:rect r="r" b="b" t="t" l="l"/>
            <a:pathLst>
              <a:path h="875250" w="889143">
                <a:moveTo>
                  <a:pt x="0" y="0"/>
                </a:moveTo>
                <a:lnTo>
                  <a:pt x="889143" y="0"/>
                </a:lnTo>
                <a:lnTo>
                  <a:pt x="889143" y="875250"/>
                </a:lnTo>
                <a:lnTo>
                  <a:pt x="0" y="8752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921143" y="1642500"/>
            <a:ext cx="889143" cy="656438"/>
          </a:xfrm>
          <a:custGeom>
            <a:avLst/>
            <a:gdLst/>
            <a:ahLst/>
            <a:cxnLst/>
            <a:rect r="r" b="b" t="t" l="l"/>
            <a:pathLst>
              <a:path h="656438" w="889143">
                <a:moveTo>
                  <a:pt x="0" y="0"/>
                </a:moveTo>
                <a:lnTo>
                  <a:pt x="889143" y="0"/>
                </a:lnTo>
                <a:lnTo>
                  <a:pt x="889143" y="656437"/>
                </a:lnTo>
                <a:lnTo>
                  <a:pt x="0" y="65643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366857" y="548437"/>
            <a:ext cx="670277" cy="656438"/>
          </a:xfrm>
          <a:custGeom>
            <a:avLst/>
            <a:gdLst/>
            <a:ahLst/>
            <a:cxnLst/>
            <a:rect r="r" b="b" t="t" l="l"/>
            <a:pathLst>
              <a:path h="656438" w="670277">
                <a:moveTo>
                  <a:pt x="0" y="0"/>
                </a:moveTo>
                <a:lnTo>
                  <a:pt x="670277" y="0"/>
                </a:lnTo>
                <a:lnTo>
                  <a:pt x="670277" y="656438"/>
                </a:lnTo>
                <a:lnTo>
                  <a:pt x="0" y="65643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034286" y="329625"/>
            <a:ext cx="889143" cy="1094063"/>
          </a:xfrm>
          <a:custGeom>
            <a:avLst/>
            <a:gdLst/>
            <a:ahLst/>
            <a:cxnLst/>
            <a:rect r="r" b="b" t="t" l="l"/>
            <a:pathLst>
              <a:path h="1094063" w="889143">
                <a:moveTo>
                  <a:pt x="0" y="0"/>
                </a:moveTo>
                <a:lnTo>
                  <a:pt x="889143" y="0"/>
                </a:lnTo>
                <a:lnTo>
                  <a:pt x="889143" y="1094062"/>
                </a:lnTo>
                <a:lnTo>
                  <a:pt x="0" y="109406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7590857" y="3830625"/>
            <a:ext cx="670277" cy="656438"/>
          </a:xfrm>
          <a:custGeom>
            <a:avLst/>
            <a:gdLst/>
            <a:ahLst/>
            <a:cxnLst/>
            <a:rect r="r" b="b" t="t" l="l"/>
            <a:pathLst>
              <a:path h="656438" w="670277">
                <a:moveTo>
                  <a:pt x="0" y="0"/>
                </a:moveTo>
                <a:lnTo>
                  <a:pt x="670277" y="0"/>
                </a:lnTo>
                <a:lnTo>
                  <a:pt x="670277" y="656437"/>
                </a:lnTo>
                <a:lnTo>
                  <a:pt x="0" y="65643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5361723" y="8206875"/>
            <a:ext cx="902822" cy="875250"/>
          </a:xfrm>
          <a:custGeom>
            <a:avLst/>
            <a:gdLst/>
            <a:ahLst/>
            <a:cxnLst/>
            <a:rect r="r" b="b" t="t" l="l"/>
            <a:pathLst>
              <a:path h="875250" w="902822">
                <a:moveTo>
                  <a:pt x="0" y="0"/>
                </a:moveTo>
                <a:lnTo>
                  <a:pt x="902822" y="0"/>
                </a:lnTo>
                <a:lnTo>
                  <a:pt x="902822" y="875250"/>
                </a:lnTo>
                <a:lnTo>
                  <a:pt x="0" y="87525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0026303" y="9300938"/>
            <a:ext cx="683956" cy="437625"/>
          </a:xfrm>
          <a:custGeom>
            <a:avLst/>
            <a:gdLst/>
            <a:ahLst/>
            <a:cxnLst/>
            <a:rect r="r" b="b" t="t" l="l"/>
            <a:pathLst>
              <a:path h="437625" w="683956">
                <a:moveTo>
                  <a:pt x="0" y="0"/>
                </a:moveTo>
                <a:lnTo>
                  <a:pt x="683956" y="0"/>
                </a:lnTo>
                <a:lnTo>
                  <a:pt x="683956" y="437625"/>
                </a:lnTo>
                <a:lnTo>
                  <a:pt x="0" y="43762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853632" y="920321"/>
            <a:ext cx="2072592" cy="709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083" b="true">
                <a:solidFill>
                  <a:srgbClr val="FFFFFF"/>
                </a:solidFill>
                <a:latin typeface="Inter 1 Medium"/>
                <a:ea typeface="Inter 1 Medium"/>
                <a:cs typeface="Inter 1 Medium"/>
                <a:sym typeface="Inter 1 Medium"/>
              </a:rPr>
              <a:t>She4Tech AI Chatbot System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53632" y="4448289"/>
            <a:ext cx="9347857" cy="1287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78"/>
              </a:lnSpc>
            </a:pPr>
            <a:r>
              <a:rPr lang="en-US" sz="9778" b="true">
                <a:solidFill>
                  <a:srgbClr val="FFFFFF"/>
                </a:solidFill>
                <a:latin typeface="Antonio Ultra-Bold"/>
                <a:ea typeface="Antonio Ultra-Bold"/>
                <a:cs typeface="Antonio Ultra-Bold"/>
                <a:sym typeface="Antonio Ultra-Bold"/>
              </a:rPr>
              <a:t>OOP CONCEPTS USED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81773" y="6013909"/>
            <a:ext cx="7884437" cy="1445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57"/>
              </a:lnSpc>
            </a:pPr>
            <a:r>
              <a:rPr lang="en-US" sz="2116">
                <a:solidFill>
                  <a:srgbClr val="FFFFFF"/>
                </a:solidFill>
                <a:latin typeface="Inter 1"/>
                <a:ea typeface="Inter 1"/>
                <a:cs typeface="Inter 1"/>
                <a:sym typeface="Inter 1"/>
              </a:rPr>
              <a:t>The She4Tech AI Chatbot System demonstrates core Object-Oriented Programming principles, utilizing well-structured classes and methods to create a maintainable and scalable inquiry management solution.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0696580" y="1642500"/>
            <a:ext cx="6894277" cy="1969313"/>
          </a:xfrm>
          <a:custGeom>
            <a:avLst/>
            <a:gdLst/>
            <a:ahLst/>
            <a:cxnLst/>
            <a:rect r="r" b="b" t="t" l="l"/>
            <a:pathLst>
              <a:path h="1969313" w="6894277">
                <a:moveTo>
                  <a:pt x="0" y="0"/>
                </a:moveTo>
                <a:lnTo>
                  <a:pt x="6894277" y="0"/>
                </a:lnTo>
                <a:lnTo>
                  <a:pt x="6894277" y="1969312"/>
                </a:lnTo>
                <a:lnTo>
                  <a:pt x="0" y="1969312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0477714" y="2080125"/>
            <a:ext cx="889143" cy="1094063"/>
          </a:xfrm>
          <a:custGeom>
            <a:avLst/>
            <a:gdLst/>
            <a:ahLst/>
            <a:cxnLst/>
            <a:rect r="r" b="b" t="t" l="l"/>
            <a:pathLst>
              <a:path h="1094063" w="889143">
                <a:moveTo>
                  <a:pt x="0" y="0"/>
                </a:moveTo>
                <a:lnTo>
                  <a:pt x="889143" y="0"/>
                </a:lnTo>
                <a:lnTo>
                  <a:pt x="889143" y="1094062"/>
                </a:lnTo>
                <a:lnTo>
                  <a:pt x="0" y="1094062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1646048" y="1902687"/>
            <a:ext cx="1829856" cy="341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3"/>
              </a:lnSpc>
            </a:pPr>
            <a:r>
              <a:rPr lang="en-US" sz="2032" b="true">
                <a:solidFill>
                  <a:srgbClr val="FFFFFF"/>
                </a:solidFill>
                <a:latin typeface="Inter 1 Bold"/>
                <a:ea typeface="Inter 1 Bold"/>
                <a:cs typeface="Inter 1 Bold"/>
                <a:sym typeface="Inter 1 Bold"/>
              </a:rPr>
              <a:t>Encapsulation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646048" y="2450130"/>
            <a:ext cx="5526912" cy="936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7"/>
              </a:lnSpc>
            </a:pPr>
            <a:r>
              <a:rPr lang="en-US" sz="1879" b="true">
                <a:solidFill>
                  <a:srgbClr val="FFFFFF"/>
                </a:solidFill>
                <a:latin typeface="Inter 1 Medium"/>
                <a:ea typeface="Inter 1 Medium"/>
                <a:cs typeface="Inter 1 Medium"/>
                <a:sym typeface="Inter 1 Medium"/>
              </a:rPr>
              <a:t>Private data members protect sensitive information while public getters and setters provide controlled access to class attributes.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10696580" y="3611812"/>
            <a:ext cx="6894277" cy="1969313"/>
          </a:xfrm>
          <a:custGeom>
            <a:avLst/>
            <a:gdLst/>
            <a:ahLst/>
            <a:cxnLst/>
            <a:rect r="r" b="b" t="t" l="l"/>
            <a:pathLst>
              <a:path h="1969313" w="6894277">
                <a:moveTo>
                  <a:pt x="0" y="0"/>
                </a:moveTo>
                <a:lnTo>
                  <a:pt x="6894277" y="0"/>
                </a:lnTo>
                <a:lnTo>
                  <a:pt x="6894277" y="1969313"/>
                </a:lnTo>
                <a:lnTo>
                  <a:pt x="0" y="1969313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0477714" y="4049437"/>
            <a:ext cx="889143" cy="1094063"/>
          </a:xfrm>
          <a:custGeom>
            <a:avLst/>
            <a:gdLst/>
            <a:ahLst/>
            <a:cxnLst/>
            <a:rect r="r" b="b" t="t" l="l"/>
            <a:pathLst>
              <a:path h="1094063" w="889143">
                <a:moveTo>
                  <a:pt x="0" y="0"/>
                </a:moveTo>
                <a:lnTo>
                  <a:pt x="889143" y="0"/>
                </a:lnTo>
                <a:lnTo>
                  <a:pt x="889143" y="1094063"/>
                </a:lnTo>
                <a:lnTo>
                  <a:pt x="0" y="1094063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1646048" y="3903632"/>
            <a:ext cx="3136896" cy="319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4"/>
              </a:lnSpc>
            </a:pPr>
            <a:r>
              <a:rPr lang="en-US" sz="1981" b="true">
                <a:solidFill>
                  <a:srgbClr val="FFFFFF"/>
                </a:solidFill>
                <a:latin typeface="Inter 1 Bold"/>
                <a:ea typeface="Inter 1 Bold"/>
                <a:cs typeface="Inter 1 Bold"/>
                <a:sym typeface="Inter 1 Bold"/>
              </a:rPr>
              <a:t>Constructor Initialization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646048" y="4435197"/>
            <a:ext cx="5377536" cy="936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7"/>
              </a:lnSpc>
            </a:pPr>
            <a:r>
              <a:rPr lang="en-US" sz="1879" b="true">
                <a:solidFill>
                  <a:srgbClr val="FFFFFF"/>
                </a:solidFill>
                <a:latin typeface="Inter 1 Medium"/>
                <a:ea typeface="Inter 1 Medium"/>
                <a:cs typeface="Inter 1 Medium"/>
                <a:sym typeface="Inter 1 Medium"/>
              </a:rPr>
              <a:t>Constructors initialize inquiry objects with proper default values, ensuring data integrity from the moment of object creation.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10696580" y="5581125"/>
            <a:ext cx="6894277" cy="1969313"/>
          </a:xfrm>
          <a:custGeom>
            <a:avLst/>
            <a:gdLst/>
            <a:ahLst/>
            <a:cxnLst/>
            <a:rect r="r" b="b" t="t" l="l"/>
            <a:pathLst>
              <a:path h="1969313" w="6894277">
                <a:moveTo>
                  <a:pt x="0" y="0"/>
                </a:moveTo>
                <a:lnTo>
                  <a:pt x="6894277" y="0"/>
                </a:lnTo>
                <a:lnTo>
                  <a:pt x="6894277" y="1969313"/>
                </a:lnTo>
                <a:lnTo>
                  <a:pt x="0" y="1969313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0477714" y="6237563"/>
            <a:ext cx="889143" cy="875250"/>
          </a:xfrm>
          <a:custGeom>
            <a:avLst/>
            <a:gdLst/>
            <a:ahLst/>
            <a:cxnLst/>
            <a:rect r="r" b="b" t="t" l="l"/>
            <a:pathLst>
              <a:path h="875250" w="889143">
                <a:moveTo>
                  <a:pt x="0" y="0"/>
                </a:moveTo>
                <a:lnTo>
                  <a:pt x="889143" y="0"/>
                </a:lnTo>
                <a:lnTo>
                  <a:pt x="889143" y="875250"/>
                </a:lnTo>
                <a:lnTo>
                  <a:pt x="0" y="87525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11646048" y="5862318"/>
            <a:ext cx="2763456" cy="341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3"/>
              </a:lnSpc>
            </a:pPr>
            <a:r>
              <a:rPr lang="en-US" sz="2032" b="true">
                <a:solidFill>
                  <a:srgbClr val="FFFFFF"/>
                </a:solidFill>
                <a:latin typeface="Inter 1 Bold"/>
                <a:ea typeface="Inter 1 Bold"/>
                <a:cs typeface="Inter 1 Bold"/>
                <a:sym typeface="Inter 1 Bold"/>
              </a:rPr>
              <a:t>Classes Implemented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646048" y="6409761"/>
            <a:ext cx="5452224" cy="936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7"/>
              </a:lnSpc>
            </a:pPr>
            <a:r>
              <a:rPr lang="en-US" sz="1879" b="true">
                <a:solidFill>
                  <a:srgbClr val="FFFFFF"/>
                </a:solidFill>
                <a:latin typeface="Inter 1 Medium"/>
                <a:ea typeface="Inter 1 Medium"/>
                <a:cs typeface="Inter 1 Medium"/>
                <a:sym typeface="Inter 1 Medium"/>
              </a:rPr>
              <a:t>Inquiry Class and ChatbotManager Class organize functionality into logical units for better code structure.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10696580" y="7550438"/>
            <a:ext cx="6894277" cy="1969313"/>
          </a:xfrm>
          <a:custGeom>
            <a:avLst/>
            <a:gdLst/>
            <a:ahLst/>
            <a:cxnLst/>
            <a:rect r="r" b="b" t="t" l="l"/>
            <a:pathLst>
              <a:path h="1969313" w="6894277">
                <a:moveTo>
                  <a:pt x="0" y="0"/>
                </a:moveTo>
                <a:lnTo>
                  <a:pt x="6894277" y="0"/>
                </a:lnTo>
                <a:lnTo>
                  <a:pt x="6894277" y="1969312"/>
                </a:lnTo>
                <a:lnTo>
                  <a:pt x="0" y="1969312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0477714" y="8206875"/>
            <a:ext cx="889143" cy="875250"/>
          </a:xfrm>
          <a:custGeom>
            <a:avLst/>
            <a:gdLst/>
            <a:ahLst/>
            <a:cxnLst/>
            <a:rect r="r" b="b" t="t" l="l"/>
            <a:pathLst>
              <a:path h="875250" w="889143">
                <a:moveTo>
                  <a:pt x="0" y="0"/>
                </a:moveTo>
                <a:lnTo>
                  <a:pt x="889143" y="0"/>
                </a:lnTo>
                <a:lnTo>
                  <a:pt x="889143" y="875250"/>
                </a:lnTo>
                <a:lnTo>
                  <a:pt x="0" y="875250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11646048" y="7847385"/>
            <a:ext cx="1699152" cy="341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3"/>
              </a:lnSpc>
            </a:pPr>
            <a:r>
              <a:rPr lang="en-US" sz="2032" b="true">
                <a:solidFill>
                  <a:srgbClr val="FFFFFF"/>
                </a:solidFill>
                <a:latin typeface="Inter 1 Bold"/>
                <a:ea typeface="Inter 1 Bold"/>
                <a:cs typeface="Inter 1 Bold"/>
                <a:sym typeface="Inter 1 Bold"/>
              </a:rPr>
              <a:t>Key Methods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1646048" y="8391525"/>
            <a:ext cx="5715000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38"/>
              </a:lnSpc>
              <a:spcBef>
                <a:spcPct val="0"/>
              </a:spcBef>
            </a:pPr>
            <a:r>
              <a:rPr lang="en-US" b="true" sz="1880" strike="noStrike" u="none">
                <a:solidFill>
                  <a:srgbClr val="FFFFFF"/>
                </a:solidFill>
                <a:latin typeface="Inter 1 Medium"/>
                <a:ea typeface="Inter 1 Medium"/>
                <a:cs typeface="Inter 1 Medium"/>
                <a:sym typeface="Inter 1 Medium"/>
              </a:rPr>
              <a:t>loadData(), saveData(), generateBotResponse(), and searchInquiry() methods handle core system operations efficiently.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6370064" y="909052"/>
            <a:ext cx="1064304" cy="353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12"/>
              </a:lnSpc>
            </a:pPr>
            <a:r>
              <a:rPr lang="en-US" sz="2083" b="true">
                <a:solidFill>
                  <a:srgbClr val="FFFFFF"/>
                </a:solidFill>
                <a:latin typeface="Inter 1 Medium"/>
                <a:ea typeface="Inter 1 Medium"/>
                <a:cs typeface="Inter 1 Medium"/>
                <a:sym typeface="Inter 1 Medium"/>
              </a:rPr>
              <a:t>Page 06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843152" y="2387480"/>
            <a:ext cx="186720" cy="496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48"/>
              </a:lnSpc>
            </a:pPr>
            <a:r>
              <a:rPr lang="en-US" sz="2999" b="true">
                <a:solidFill>
                  <a:srgbClr val="000000"/>
                </a:solidFill>
                <a:latin typeface="Inter 1 Bold"/>
                <a:ea typeface="Inter 1 Bold"/>
                <a:cs typeface="Inter 1 Bold"/>
                <a:sym typeface="Inter 1 Bold"/>
              </a:rPr>
              <a:t>1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824480" y="4362044"/>
            <a:ext cx="224064" cy="496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48"/>
              </a:lnSpc>
            </a:pPr>
            <a:r>
              <a:rPr lang="en-US" sz="2999" b="true">
                <a:solidFill>
                  <a:srgbClr val="000000"/>
                </a:solidFill>
                <a:latin typeface="Inter 1 Bold"/>
                <a:ea typeface="Inter 1 Bold"/>
                <a:cs typeface="Inter 1 Bold"/>
                <a:sym typeface="Inter 1 Bold"/>
              </a:rPr>
              <a:t>2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0824480" y="6347111"/>
            <a:ext cx="224064" cy="496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48"/>
              </a:lnSpc>
            </a:pPr>
            <a:r>
              <a:rPr lang="en-US" sz="2999" b="true">
                <a:solidFill>
                  <a:srgbClr val="000000"/>
                </a:solidFill>
                <a:latin typeface="Inter 1 Bold"/>
                <a:ea typeface="Inter 1 Bold"/>
                <a:cs typeface="Inter 1 Bold"/>
                <a:sym typeface="Inter 1 Bold"/>
              </a:rPr>
              <a:t>3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0824480" y="8332178"/>
            <a:ext cx="224064" cy="496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48"/>
              </a:lnSpc>
            </a:pPr>
            <a:r>
              <a:rPr lang="en-US" sz="2999" b="true">
                <a:solidFill>
                  <a:srgbClr val="000000"/>
                </a:solidFill>
                <a:latin typeface="Inter 1 Bold"/>
                <a:ea typeface="Inter 1 Bold"/>
                <a:cs typeface="Inter 1 Bold"/>
                <a:sym typeface="Inter 1 Bold"/>
              </a:rPr>
              <a:t>4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75731" y="-108000"/>
            <a:ext cx="18839462" cy="10503000"/>
          </a:xfrm>
          <a:custGeom>
            <a:avLst/>
            <a:gdLst/>
            <a:ahLst/>
            <a:cxnLst/>
            <a:rect r="r" b="b" t="t" l="l"/>
            <a:pathLst>
              <a:path h="10503000" w="18839462">
                <a:moveTo>
                  <a:pt x="0" y="0"/>
                </a:moveTo>
                <a:lnTo>
                  <a:pt x="18839462" y="0"/>
                </a:lnTo>
                <a:lnTo>
                  <a:pt x="18839462" y="10503000"/>
                </a:lnTo>
                <a:lnTo>
                  <a:pt x="0" y="10503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75731" y="2080125"/>
            <a:ext cx="4271738" cy="2188125"/>
          </a:xfrm>
          <a:custGeom>
            <a:avLst/>
            <a:gdLst/>
            <a:ahLst/>
            <a:cxnLst/>
            <a:rect r="r" b="b" t="t" l="l"/>
            <a:pathLst>
              <a:path h="2188125" w="4271738">
                <a:moveTo>
                  <a:pt x="0" y="0"/>
                </a:moveTo>
                <a:lnTo>
                  <a:pt x="4271739" y="0"/>
                </a:lnTo>
                <a:lnTo>
                  <a:pt x="4271739" y="2188125"/>
                </a:lnTo>
                <a:lnTo>
                  <a:pt x="0" y="21881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75731" y="6675188"/>
            <a:ext cx="4942620" cy="1531688"/>
          </a:xfrm>
          <a:custGeom>
            <a:avLst/>
            <a:gdLst/>
            <a:ahLst/>
            <a:cxnLst/>
            <a:rect r="r" b="b" t="t" l="l"/>
            <a:pathLst>
              <a:path h="1531688" w="4942620">
                <a:moveTo>
                  <a:pt x="0" y="0"/>
                </a:moveTo>
                <a:lnTo>
                  <a:pt x="4942621" y="0"/>
                </a:lnTo>
                <a:lnTo>
                  <a:pt x="4942621" y="1531687"/>
                </a:lnTo>
                <a:lnTo>
                  <a:pt x="0" y="15316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866511" y="1642500"/>
            <a:ext cx="2697219" cy="3063375"/>
          </a:xfrm>
          <a:custGeom>
            <a:avLst/>
            <a:gdLst/>
            <a:ahLst/>
            <a:cxnLst/>
            <a:rect r="r" b="b" t="t" l="l"/>
            <a:pathLst>
              <a:path h="3063375" w="2697219">
                <a:moveTo>
                  <a:pt x="0" y="0"/>
                </a:moveTo>
                <a:lnTo>
                  <a:pt x="2697220" y="0"/>
                </a:lnTo>
                <a:lnTo>
                  <a:pt x="2697220" y="3063375"/>
                </a:lnTo>
                <a:lnTo>
                  <a:pt x="0" y="30633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524747" y="7988063"/>
            <a:ext cx="4038983" cy="2406938"/>
          </a:xfrm>
          <a:custGeom>
            <a:avLst/>
            <a:gdLst/>
            <a:ahLst/>
            <a:cxnLst/>
            <a:rect r="r" b="b" t="t" l="l"/>
            <a:pathLst>
              <a:path h="2406938" w="4038983">
                <a:moveTo>
                  <a:pt x="0" y="0"/>
                </a:moveTo>
                <a:lnTo>
                  <a:pt x="4038984" y="0"/>
                </a:lnTo>
                <a:lnTo>
                  <a:pt x="4038984" y="2406937"/>
                </a:lnTo>
                <a:lnTo>
                  <a:pt x="0" y="24069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872262" y="4049437"/>
            <a:ext cx="5846257" cy="3501000"/>
          </a:xfrm>
          <a:custGeom>
            <a:avLst/>
            <a:gdLst/>
            <a:ahLst/>
            <a:cxnLst/>
            <a:rect r="r" b="b" t="t" l="l"/>
            <a:pathLst>
              <a:path h="3501000" w="5846257">
                <a:moveTo>
                  <a:pt x="0" y="0"/>
                </a:moveTo>
                <a:lnTo>
                  <a:pt x="5846257" y="0"/>
                </a:lnTo>
                <a:lnTo>
                  <a:pt x="5846257" y="3501001"/>
                </a:lnTo>
                <a:lnTo>
                  <a:pt x="0" y="350100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485764" y="4049437"/>
            <a:ext cx="6065321" cy="3501000"/>
          </a:xfrm>
          <a:custGeom>
            <a:avLst/>
            <a:gdLst/>
            <a:ahLst/>
            <a:cxnLst/>
            <a:rect r="r" b="b" t="t" l="l"/>
            <a:pathLst>
              <a:path h="3501000" w="6065321">
                <a:moveTo>
                  <a:pt x="0" y="0"/>
                </a:moveTo>
                <a:lnTo>
                  <a:pt x="6065321" y="0"/>
                </a:lnTo>
                <a:lnTo>
                  <a:pt x="6065321" y="3501001"/>
                </a:lnTo>
                <a:lnTo>
                  <a:pt x="0" y="350100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33278" y="4705875"/>
            <a:ext cx="2491847" cy="1969313"/>
          </a:xfrm>
          <a:custGeom>
            <a:avLst/>
            <a:gdLst/>
            <a:ahLst/>
            <a:cxnLst/>
            <a:rect r="r" b="b" t="t" l="l"/>
            <a:pathLst>
              <a:path h="1969313" w="2491847">
                <a:moveTo>
                  <a:pt x="0" y="0"/>
                </a:moveTo>
                <a:lnTo>
                  <a:pt x="2491848" y="0"/>
                </a:lnTo>
                <a:lnTo>
                  <a:pt x="2491848" y="1969313"/>
                </a:lnTo>
                <a:lnTo>
                  <a:pt x="0" y="196931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530498" y="4705875"/>
            <a:ext cx="2710911" cy="1969313"/>
          </a:xfrm>
          <a:custGeom>
            <a:avLst/>
            <a:gdLst/>
            <a:ahLst/>
            <a:cxnLst/>
            <a:rect r="r" b="b" t="t" l="l"/>
            <a:pathLst>
              <a:path h="1969313" w="2710911">
                <a:moveTo>
                  <a:pt x="0" y="0"/>
                </a:moveTo>
                <a:lnTo>
                  <a:pt x="2710910" y="0"/>
                </a:lnTo>
                <a:lnTo>
                  <a:pt x="2710910" y="1969313"/>
                </a:lnTo>
                <a:lnTo>
                  <a:pt x="0" y="196931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6446781" y="4705875"/>
            <a:ext cx="2697219" cy="1969313"/>
          </a:xfrm>
          <a:custGeom>
            <a:avLst/>
            <a:gdLst/>
            <a:ahLst/>
            <a:cxnLst/>
            <a:rect r="r" b="b" t="t" l="l"/>
            <a:pathLst>
              <a:path h="1969313" w="2697219">
                <a:moveTo>
                  <a:pt x="0" y="0"/>
                </a:moveTo>
                <a:lnTo>
                  <a:pt x="2697219" y="0"/>
                </a:lnTo>
                <a:lnTo>
                  <a:pt x="2697219" y="1969313"/>
                </a:lnTo>
                <a:lnTo>
                  <a:pt x="0" y="196931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9363064" y="4705875"/>
            <a:ext cx="2478156" cy="1969313"/>
          </a:xfrm>
          <a:custGeom>
            <a:avLst/>
            <a:gdLst/>
            <a:ahLst/>
            <a:cxnLst/>
            <a:rect r="r" b="b" t="t" l="l"/>
            <a:pathLst>
              <a:path h="1969313" w="2478156">
                <a:moveTo>
                  <a:pt x="0" y="0"/>
                </a:moveTo>
                <a:lnTo>
                  <a:pt x="2478155" y="0"/>
                </a:lnTo>
                <a:lnTo>
                  <a:pt x="2478155" y="1969313"/>
                </a:lnTo>
                <a:lnTo>
                  <a:pt x="0" y="196931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2279346" y="4705875"/>
            <a:ext cx="2478156" cy="1969313"/>
          </a:xfrm>
          <a:custGeom>
            <a:avLst/>
            <a:gdLst/>
            <a:ahLst/>
            <a:cxnLst/>
            <a:rect r="r" b="b" t="t" l="l"/>
            <a:pathLst>
              <a:path h="1969313" w="2478156">
                <a:moveTo>
                  <a:pt x="0" y="0"/>
                </a:moveTo>
                <a:lnTo>
                  <a:pt x="2478156" y="0"/>
                </a:lnTo>
                <a:lnTo>
                  <a:pt x="2478156" y="1969313"/>
                </a:lnTo>
                <a:lnTo>
                  <a:pt x="0" y="1969313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4962874" y="4705875"/>
            <a:ext cx="2710911" cy="1969313"/>
          </a:xfrm>
          <a:custGeom>
            <a:avLst/>
            <a:gdLst/>
            <a:ahLst/>
            <a:cxnLst/>
            <a:rect r="r" b="b" t="t" l="l"/>
            <a:pathLst>
              <a:path h="1969313" w="2710911">
                <a:moveTo>
                  <a:pt x="0" y="0"/>
                </a:moveTo>
                <a:lnTo>
                  <a:pt x="2710911" y="0"/>
                </a:lnTo>
                <a:lnTo>
                  <a:pt x="2710911" y="1969313"/>
                </a:lnTo>
                <a:lnTo>
                  <a:pt x="0" y="1969313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345971" y="270236"/>
            <a:ext cx="4483792" cy="438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4"/>
              </a:lnSpc>
            </a:pPr>
            <a:r>
              <a:rPr lang="en-US" sz="243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She4Tech AI Chatbot System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62396" y="767250"/>
            <a:ext cx="17963208" cy="218813"/>
          </a:xfrm>
          <a:custGeom>
            <a:avLst/>
            <a:gdLst/>
            <a:ahLst/>
            <a:cxnLst/>
            <a:rect r="r" b="b" t="t" l="l"/>
            <a:pathLst>
              <a:path h="218813" w="17963208">
                <a:moveTo>
                  <a:pt x="0" y="0"/>
                </a:moveTo>
                <a:lnTo>
                  <a:pt x="17963208" y="0"/>
                </a:lnTo>
                <a:lnTo>
                  <a:pt x="17963208" y="218812"/>
                </a:lnTo>
                <a:lnTo>
                  <a:pt x="0" y="218812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2154560" y="1025184"/>
            <a:ext cx="13978881" cy="1763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747"/>
              </a:lnSpc>
            </a:pPr>
            <a:r>
              <a:rPr lang="en-US" b="true" sz="981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SYSTEM FLOWCHART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532857" y="5453272"/>
            <a:ext cx="1111528" cy="598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97"/>
              </a:lnSpc>
            </a:pPr>
            <a:r>
              <a:rPr lang="en-US" sz="3355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Start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302258" y="5453272"/>
            <a:ext cx="1299923" cy="598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97"/>
              </a:lnSpc>
            </a:pPr>
            <a:r>
              <a:rPr lang="en-US" sz="3355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Menu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015141" y="5307639"/>
            <a:ext cx="1620194" cy="973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33"/>
              </a:lnSpc>
            </a:pPr>
            <a:r>
              <a:rPr lang="en-US" sz="3457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Select</a:t>
            </a:r>
          </a:p>
          <a:p>
            <a:pPr algn="ctr">
              <a:lnSpc>
                <a:spcPts val="3733"/>
              </a:lnSpc>
            </a:pPr>
            <a:r>
              <a:rPr lang="en-US" sz="3457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Option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744015" y="5307639"/>
            <a:ext cx="1921625" cy="973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33"/>
              </a:lnSpc>
            </a:pPr>
            <a:r>
              <a:rPr lang="en-US" sz="3457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Process</a:t>
            </a:r>
          </a:p>
          <a:p>
            <a:pPr algn="ctr">
              <a:lnSpc>
                <a:spcPts val="3733"/>
              </a:lnSpc>
            </a:pPr>
            <a:r>
              <a:rPr lang="en-US" sz="3457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Request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874213" y="5307639"/>
            <a:ext cx="1205726" cy="973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33"/>
              </a:lnSpc>
            </a:pPr>
            <a:r>
              <a:rPr lang="en-US" sz="3457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Save</a:t>
            </a:r>
          </a:p>
          <a:p>
            <a:pPr algn="ctr">
              <a:lnSpc>
                <a:spcPts val="3733"/>
              </a:lnSpc>
            </a:pPr>
            <a:r>
              <a:rPr lang="en-US" sz="3457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Data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5926206" y="5453272"/>
            <a:ext cx="810097" cy="598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97"/>
              </a:lnSpc>
            </a:pPr>
            <a:r>
              <a:rPr lang="en-US" sz="3355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Exit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10937582" y="3174187"/>
            <a:ext cx="1355455" cy="1094063"/>
          </a:xfrm>
          <a:custGeom>
            <a:avLst/>
            <a:gdLst/>
            <a:ahLst/>
            <a:cxnLst/>
            <a:rect r="r" b="b" t="t" l="l"/>
            <a:pathLst>
              <a:path h="1094063" w="1355455">
                <a:moveTo>
                  <a:pt x="0" y="0"/>
                </a:moveTo>
                <a:lnTo>
                  <a:pt x="1355456" y="0"/>
                </a:lnTo>
                <a:lnTo>
                  <a:pt x="1355456" y="1094063"/>
                </a:lnTo>
                <a:lnTo>
                  <a:pt x="0" y="1094063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3530498" y="3393000"/>
            <a:ext cx="903637" cy="875250"/>
          </a:xfrm>
          <a:custGeom>
            <a:avLst/>
            <a:gdLst/>
            <a:ahLst/>
            <a:cxnLst/>
            <a:rect r="r" b="b" t="t" l="l"/>
            <a:pathLst>
              <a:path h="875250" w="903637">
                <a:moveTo>
                  <a:pt x="0" y="0"/>
                </a:moveTo>
                <a:lnTo>
                  <a:pt x="903637" y="0"/>
                </a:lnTo>
                <a:lnTo>
                  <a:pt x="903637" y="875250"/>
                </a:lnTo>
                <a:lnTo>
                  <a:pt x="0" y="875250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2859616" y="7331625"/>
            <a:ext cx="1355455" cy="1312875"/>
          </a:xfrm>
          <a:custGeom>
            <a:avLst/>
            <a:gdLst/>
            <a:ahLst/>
            <a:cxnLst/>
            <a:rect r="r" b="b" t="t" l="l"/>
            <a:pathLst>
              <a:path h="1312875" w="1355455">
                <a:moveTo>
                  <a:pt x="0" y="0"/>
                </a:moveTo>
                <a:lnTo>
                  <a:pt x="1355455" y="0"/>
                </a:lnTo>
                <a:lnTo>
                  <a:pt x="1355455" y="1312875"/>
                </a:lnTo>
                <a:lnTo>
                  <a:pt x="0" y="1312875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0485764" y="7769250"/>
            <a:ext cx="1355455" cy="1094063"/>
          </a:xfrm>
          <a:custGeom>
            <a:avLst/>
            <a:gdLst/>
            <a:ahLst/>
            <a:cxnLst/>
            <a:rect r="r" b="b" t="t" l="l"/>
            <a:pathLst>
              <a:path h="1094063" w="1355455">
                <a:moveTo>
                  <a:pt x="0" y="0"/>
                </a:moveTo>
                <a:lnTo>
                  <a:pt x="1355455" y="0"/>
                </a:lnTo>
                <a:lnTo>
                  <a:pt x="1355455" y="1094063"/>
                </a:lnTo>
                <a:lnTo>
                  <a:pt x="0" y="1094063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3078679" y="7988063"/>
            <a:ext cx="5394439" cy="2406938"/>
          </a:xfrm>
          <a:custGeom>
            <a:avLst/>
            <a:gdLst/>
            <a:ahLst/>
            <a:cxnLst/>
            <a:rect r="r" b="b" t="t" l="l"/>
            <a:pathLst>
              <a:path h="2406938" w="5394439">
                <a:moveTo>
                  <a:pt x="0" y="0"/>
                </a:moveTo>
                <a:lnTo>
                  <a:pt x="5394439" y="0"/>
                </a:lnTo>
                <a:lnTo>
                  <a:pt x="5394439" y="2406937"/>
                </a:lnTo>
                <a:lnTo>
                  <a:pt x="0" y="2406937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0704828" y="-108000"/>
            <a:ext cx="3600856" cy="1312875"/>
          </a:xfrm>
          <a:custGeom>
            <a:avLst/>
            <a:gdLst/>
            <a:ahLst/>
            <a:cxnLst/>
            <a:rect r="r" b="b" t="t" l="l"/>
            <a:pathLst>
              <a:path h="1312875" w="3600856">
                <a:moveTo>
                  <a:pt x="0" y="0"/>
                </a:moveTo>
                <a:lnTo>
                  <a:pt x="3600856" y="0"/>
                </a:lnTo>
                <a:lnTo>
                  <a:pt x="3600856" y="1312875"/>
                </a:lnTo>
                <a:lnTo>
                  <a:pt x="0" y="1312875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955979" y="2955375"/>
            <a:ext cx="2710911" cy="5689125"/>
          </a:xfrm>
          <a:custGeom>
            <a:avLst/>
            <a:gdLst/>
            <a:ahLst/>
            <a:cxnLst/>
            <a:rect r="r" b="b" t="t" l="l"/>
            <a:pathLst>
              <a:path h="5689125" w="2710911">
                <a:moveTo>
                  <a:pt x="0" y="0"/>
                </a:moveTo>
                <a:lnTo>
                  <a:pt x="2710911" y="0"/>
                </a:lnTo>
                <a:lnTo>
                  <a:pt x="2710911" y="5689125"/>
                </a:lnTo>
                <a:lnTo>
                  <a:pt x="0" y="5689125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4072929" y="2736562"/>
            <a:ext cx="2259092" cy="5689125"/>
          </a:xfrm>
          <a:custGeom>
            <a:avLst/>
            <a:gdLst/>
            <a:ahLst/>
            <a:cxnLst/>
            <a:rect r="r" b="b" t="t" l="l"/>
            <a:pathLst>
              <a:path h="5689125" w="2259092">
                <a:moveTo>
                  <a:pt x="0" y="0"/>
                </a:moveTo>
                <a:lnTo>
                  <a:pt x="2259092" y="0"/>
                </a:lnTo>
                <a:lnTo>
                  <a:pt x="2259092" y="5689126"/>
                </a:lnTo>
                <a:lnTo>
                  <a:pt x="0" y="5689126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11827528" y="2955375"/>
            <a:ext cx="2710911" cy="1750500"/>
          </a:xfrm>
          <a:custGeom>
            <a:avLst/>
            <a:gdLst/>
            <a:ahLst/>
            <a:cxnLst/>
            <a:rect r="r" b="b" t="t" l="l"/>
            <a:pathLst>
              <a:path h="1750500" w="2710911">
                <a:moveTo>
                  <a:pt x="0" y="0"/>
                </a:moveTo>
                <a:lnTo>
                  <a:pt x="2710911" y="0"/>
                </a:lnTo>
                <a:lnTo>
                  <a:pt x="2710911" y="1750500"/>
                </a:lnTo>
                <a:lnTo>
                  <a:pt x="0" y="1750500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16698624" y="270236"/>
            <a:ext cx="1262244" cy="438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414"/>
              </a:lnSpc>
            </a:pPr>
            <a:r>
              <a:rPr lang="en-US" sz="243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Page 07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92000" y="-108000"/>
            <a:ext cx="18672000" cy="10503000"/>
          </a:xfrm>
          <a:custGeom>
            <a:avLst/>
            <a:gdLst/>
            <a:ahLst/>
            <a:cxnLst/>
            <a:rect r="r" b="b" t="t" l="l"/>
            <a:pathLst>
              <a:path h="10503000" w="18672000">
                <a:moveTo>
                  <a:pt x="0" y="0"/>
                </a:moveTo>
                <a:lnTo>
                  <a:pt x="18672000" y="0"/>
                </a:lnTo>
                <a:lnTo>
                  <a:pt x="18672000" y="10503000"/>
                </a:lnTo>
                <a:lnTo>
                  <a:pt x="0" y="10503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688598" y="-108000"/>
            <a:ext cx="4678259" cy="1969313"/>
          </a:xfrm>
          <a:custGeom>
            <a:avLst/>
            <a:gdLst/>
            <a:ahLst/>
            <a:cxnLst/>
            <a:rect r="r" b="b" t="t" l="l"/>
            <a:pathLst>
              <a:path h="1969313" w="4678259">
                <a:moveTo>
                  <a:pt x="0" y="0"/>
                </a:moveTo>
                <a:lnTo>
                  <a:pt x="4678259" y="0"/>
                </a:lnTo>
                <a:lnTo>
                  <a:pt x="4678259" y="1969312"/>
                </a:lnTo>
                <a:lnTo>
                  <a:pt x="0" y="19693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701714" y="1861312"/>
            <a:ext cx="1778286" cy="3938625"/>
          </a:xfrm>
          <a:custGeom>
            <a:avLst/>
            <a:gdLst/>
            <a:ahLst/>
            <a:cxnLst/>
            <a:rect r="r" b="b" t="t" l="l"/>
            <a:pathLst>
              <a:path h="3938625" w="1778286">
                <a:moveTo>
                  <a:pt x="0" y="0"/>
                </a:moveTo>
                <a:lnTo>
                  <a:pt x="1778286" y="0"/>
                </a:lnTo>
                <a:lnTo>
                  <a:pt x="1778286" y="3938626"/>
                </a:lnTo>
                <a:lnTo>
                  <a:pt x="0" y="393862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142857" y="329625"/>
            <a:ext cx="889143" cy="875250"/>
          </a:xfrm>
          <a:custGeom>
            <a:avLst/>
            <a:gdLst/>
            <a:ahLst/>
            <a:cxnLst/>
            <a:rect r="r" b="b" t="t" l="l"/>
            <a:pathLst>
              <a:path h="875250" w="889143">
                <a:moveTo>
                  <a:pt x="0" y="0"/>
                </a:moveTo>
                <a:lnTo>
                  <a:pt x="889143" y="0"/>
                </a:lnTo>
                <a:lnTo>
                  <a:pt x="889143" y="875250"/>
                </a:lnTo>
                <a:lnTo>
                  <a:pt x="0" y="8752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92000" y="2080125"/>
            <a:ext cx="670277" cy="1312875"/>
          </a:xfrm>
          <a:custGeom>
            <a:avLst/>
            <a:gdLst/>
            <a:ahLst/>
            <a:cxnLst/>
            <a:rect r="r" b="b" t="t" l="l"/>
            <a:pathLst>
              <a:path h="1312875" w="670277">
                <a:moveTo>
                  <a:pt x="0" y="0"/>
                </a:moveTo>
                <a:lnTo>
                  <a:pt x="670277" y="0"/>
                </a:lnTo>
                <a:lnTo>
                  <a:pt x="670277" y="1312875"/>
                </a:lnTo>
                <a:lnTo>
                  <a:pt x="0" y="13128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693732" y="986062"/>
            <a:ext cx="683956" cy="656438"/>
          </a:xfrm>
          <a:custGeom>
            <a:avLst/>
            <a:gdLst/>
            <a:ahLst/>
            <a:cxnLst/>
            <a:rect r="r" b="b" t="t" l="l"/>
            <a:pathLst>
              <a:path h="656438" w="683956">
                <a:moveTo>
                  <a:pt x="0" y="0"/>
                </a:moveTo>
                <a:lnTo>
                  <a:pt x="683956" y="0"/>
                </a:lnTo>
                <a:lnTo>
                  <a:pt x="683956" y="656438"/>
                </a:lnTo>
                <a:lnTo>
                  <a:pt x="0" y="65643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580026" y="2298937"/>
            <a:ext cx="902822" cy="875250"/>
          </a:xfrm>
          <a:custGeom>
            <a:avLst/>
            <a:gdLst/>
            <a:ahLst/>
            <a:cxnLst/>
            <a:rect r="r" b="b" t="t" l="l"/>
            <a:pathLst>
              <a:path h="875250" w="902822">
                <a:moveTo>
                  <a:pt x="0" y="0"/>
                </a:moveTo>
                <a:lnTo>
                  <a:pt x="902822" y="0"/>
                </a:lnTo>
                <a:lnTo>
                  <a:pt x="902822" y="875250"/>
                </a:lnTo>
                <a:lnTo>
                  <a:pt x="0" y="87525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469169" y="3830625"/>
            <a:ext cx="683956" cy="875250"/>
          </a:xfrm>
          <a:custGeom>
            <a:avLst/>
            <a:gdLst/>
            <a:ahLst/>
            <a:cxnLst/>
            <a:rect r="r" b="b" t="t" l="l"/>
            <a:pathLst>
              <a:path h="875250" w="683956">
                <a:moveTo>
                  <a:pt x="0" y="0"/>
                </a:moveTo>
                <a:lnTo>
                  <a:pt x="683956" y="0"/>
                </a:lnTo>
                <a:lnTo>
                  <a:pt x="683956" y="875250"/>
                </a:lnTo>
                <a:lnTo>
                  <a:pt x="0" y="87525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245169" y="2517750"/>
            <a:ext cx="7578233" cy="6345563"/>
          </a:xfrm>
          <a:custGeom>
            <a:avLst/>
            <a:gdLst/>
            <a:ahLst/>
            <a:cxnLst/>
            <a:rect r="r" b="b" t="t" l="l"/>
            <a:pathLst>
              <a:path h="6345563" w="7578233">
                <a:moveTo>
                  <a:pt x="0" y="0"/>
                </a:moveTo>
                <a:lnTo>
                  <a:pt x="7578233" y="0"/>
                </a:lnTo>
                <a:lnTo>
                  <a:pt x="7578233" y="6345563"/>
                </a:lnTo>
                <a:lnTo>
                  <a:pt x="0" y="634556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0245169" y="7112813"/>
            <a:ext cx="683956" cy="656437"/>
          </a:xfrm>
          <a:custGeom>
            <a:avLst/>
            <a:gdLst/>
            <a:ahLst/>
            <a:cxnLst/>
            <a:rect r="r" b="b" t="t" l="l"/>
            <a:pathLst>
              <a:path h="656437" w="683956">
                <a:moveTo>
                  <a:pt x="0" y="0"/>
                </a:moveTo>
                <a:lnTo>
                  <a:pt x="683956" y="0"/>
                </a:lnTo>
                <a:lnTo>
                  <a:pt x="683956" y="656437"/>
                </a:lnTo>
                <a:lnTo>
                  <a:pt x="0" y="65643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1134312" y="7550438"/>
            <a:ext cx="902822" cy="875250"/>
          </a:xfrm>
          <a:custGeom>
            <a:avLst/>
            <a:gdLst/>
            <a:ahLst/>
            <a:cxnLst/>
            <a:rect r="r" b="b" t="t" l="l"/>
            <a:pathLst>
              <a:path h="875250" w="902822">
                <a:moveTo>
                  <a:pt x="0" y="0"/>
                </a:moveTo>
                <a:lnTo>
                  <a:pt x="902822" y="0"/>
                </a:lnTo>
                <a:lnTo>
                  <a:pt x="902822" y="875250"/>
                </a:lnTo>
                <a:lnTo>
                  <a:pt x="0" y="87525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6469169" y="7331625"/>
            <a:ext cx="683956" cy="875250"/>
          </a:xfrm>
          <a:custGeom>
            <a:avLst/>
            <a:gdLst/>
            <a:ahLst/>
            <a:cxnLst/>
            <a:rect r="r" b="b" t="t" l="l"/>
            <a:pathLst>
              <a:path h="875250" w="683956">
                <a:moveTo>
                  <a:pt x="0" y="0"/>
                </a:moveTo>
                <a:lnTo>
                  <a:pt x="683956" y="0"/>
                </a:lnTo>
                <a:lnTo>
                  <a:pt x="683956" y="875250"/>
                </a:lnTo>
                <a:lnTo>
                  <a:pt x="0" y="87525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5361160" y="8206875"/>
            <a:ext cx="683956" cy="656437"/>
          </a:xfrm>
          <a:custGeom>
            <a:avLst/>
            <a:gdLst/>
            <a:ahLst/>
            <a:cxnLst/>
            <a:rect r="r" b="b" t="t" l="l"/>
            <a:pathLst>
              <a:path h="656437" w="683956">
                <a:moveTo>
                  <a:pt x="0" y="0"/>
                </a:moveTo>
                <a:lnTo>
                  <a:pt x="683956" y="0"/>
                </a:lnTo>
                <a:lnTo>
                  <a:pt x="683956" y="656437"/>
                </a:lnTo>
                <a:lnTo>
                  <a:pt x="0" y="656437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921143" y="9738562"/>
            <a:ext cx="1121688" cy="656437"/>
          </a:xfrm>
          <a:custGeom>
            <a:avLst/>
            <a:gdLst/>
            <a:ahLst/>
            <a:cxnLst/>
            <a:rect r="r" b="b" t="t" l="l"/>
            <a:pathLst>
              <a:path h="656437" w="1121688">
                <a:moveTo>
                  <a:pt x="0" y="0"/>
                </a:moveTo>
                <a:lnTo>
                  <a:pt x="1121688" y="0"/>
                </a:lnTo>
                <a:lnTo>
                  <a:pt x="1121688" y="656438"/>
                </a:lnTo>
                <a:lnTo>
                  <a:pt x="0" y="656438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872304" y="904380"/>
            <a:ext cx="1680480" cy="731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87"/>
              </a:lnSpc>
            </a:pPr>
            <a:r>
              <a:rPr lang="en-US" sz="213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She4Tech AI Chatbot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72304" y="2157050"/>
            <a:ext cx="10101552" cy="1931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03"/>
              </a:lnSpc>
            </a:pPr>
            <a:r>
              <a:rPr lang="en-US" sz="14603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FILE HANDLING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697143" y="4049437"/>
            <a:ext cx="4678259" cy="3938625"/>
          </a:xfrm>
          <a:custGeom>
            <a:avLst/>
            <a:gdLst/>
            <a:ahLst/>
            <a:cxnLst/>
            <a:rect r="r" b="b" t="t" l="l"/>
            <a:pathLst>
              <a:path h="3938625" w="4678259">
                <a:moveTo>
                  <a:pt x="0" y="0"/>
                </a:moveTo>
                <a:lnTo>
                  <a:pt x="4678259" y="0"/>
                </a:lnTo>
                <a:lnTo>
                  <a:pt x="4678259" y="3938626"/>
                </a:lnTo>
                <a:lnTo>
                  <a:pt x="0" y="3938626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916009" y="4487062"/>
            <a:ext cx="670277" cy="656437"/>
          </a:xfrm>
          <a:custGeom>
            <a:avLst/>
            <a:gdLst/>
            <a:ahLst/>
            <a:cxnLst/>
            <a:rect r="r" b="b" t="t" l="l"/>
            <a:pathLst>
              <a:path h="656437" w="670277">
                <a:moveTo>
                  <a:pt x="0" y="0"/>
                </a:moveTo>
                <a:lnTo>
                  <a:pt x="670277" y="0"/>
                </a:lnTo>
                <a:lnTo>
                  <a:pt x="670277" y="656438"/>
                </a:lnTo>
                <a:lnTo>
                  <a:pt x="0" y="656438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916009" y="5143500"/>
            <a:ext cx="670277" cy="875250"/>
          </a:xfrm>
          <a:custGeom>
            <a:avLst/>
            <a:gdLst/>
            <a:ahLst/>
            <a:cxnLst/>
            <a:rect r="r" b="b" t="t" l="l"/>
            <a:pathLst>
              <a:path h="875250" w="670277">
                <a:moveTo>
                  <a:pt x="0" y="0"/>
                </a:moveTo>
                <a:lnTo>
                  <a:pt x="670277" y="0"/>
                </a:lnTo>
                <a:lnTo>
                  <a:pt x="670277" y="875250"/>
                </a:lnTo>
                <a:lnTo>
                  <a:pt x="0" y="875250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805904" y="4653682"/>
            <a:ext cx="2875488" cy="392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9"/>
              </a:lnSpc>
            </a:pPr>
            <a:r>
              <a:rPr lang="en-US" sz="2541" b="true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Data Storage Methods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805904" y="5280579"/>
            <a:ext cx="2912832" cy="556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5"/>
              </a:lnSpc>
            </a:pPr>
            <a:r>
              <a:rPr lang="en-US" sz="1879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Uses ifstream to load data and ofstream to save data.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916009" y="6018750"/>
            <a:ext cx="670277" cy="875250"/>
          </a:xfrm>
          <a:custGeom>
            <a:avLst/>
            <a:gdLst/>
            <a:ahLst/>
            <a:cxnLst/>
            <a:rect r="r" b="b" t="t" l="l"/>
            <a:pathLst>
              <a:path h="875250" w="670277">
                <a:moveTo>
                  <a:pt x="0" y="0"/>
                </a:moveTo>
                <a:lnTo>
                  <a:pt x="670277" y="0"/>
                </a:lnTo>
                <a:lnTo>
                  <a:pt x="670277" y="875250"/>
                </a:lnTo>
                <a:lnTo>
                  <a:pt x="0" y="87525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805904" y="6106809"/>
            <a:ext cx="2483376" cy="921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8"/>
              </a:lnSpc>
            </a:pPr>
            <a:r>
              <a:rPr lang="en-US" sz="2032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Database file: database.txt stores all customer records.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5580589" y="4049437"/>
            <a:ext cx="4678259" cy="3938625"/>
          </a:xfrm>
          <a:custGeom>
            <a:avLst/>
            <a:gdLst/>
            <a:ahLst/>
            <a:cxnLst/>
            <a:rect r="r" b="b" t="t" l="l"/>
            <a:pathLst>
              <a:path h="3938625" w="4678259">
                <a:moveTo>
                  <a:pt x="0" y="0"/>
                </a:moveTo>
                <a:lnTo>
                  <a:pt x="4678259" y="0"/>
                </a:lnTo>
                <a:lnTo>
                  <a:pt x="4678259" y="3938626"/>
                </a:lnTo>
                <a:lnTo>
                  <a:pt x="0" y="3938626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5799455" y="4487062"/>
            <a:ext cx="902822" cy="656437"/>
          </a:xfrm>
          <a:custGeom>
            <a:avLst/>
            <a:gdLst/>
            <a:ahLst/>
            <a:cxnLst/>
            <a:rect r="r" b="b" t="t" l="l"/>
            <a:pathLst>
              <a:path h="656437" w="902822">
                <a:moveTo>
                  <a:pt x="0" y="0"/>
                </a:moveTo>
                <a:lnTo>
                  <a:pt x="902822" y="0"/>
                </a:lnTo>
                <a:lnTo>
                  <a:pt x="902822" y="656438"/>
                </a:lnTo>
                <a:lnTo>
                  <a:pt x="0" y="656438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6032000" y="5362312"/>
            <a:ext cx="670277" cy="656437"/>
          </a:xfrm>
          <a:custGeom>
            <a:avLst/>
            <a:gdLst/>
            <a:ahLst/>
            <a:cxnLst/>
            <a:rect r="r" b="b" t="t" l="l"/>
            <a:pathLst>
              <a:path h="656437" w="670277">
                <a:moveTo>
                  <a:pt x="0" y="0"/>
                </a:moveTo>
                <a:lnTo>
                  <a:pt x="670277" y="0"/>
                </a:lnTo>
                <a:lnTo>
                  <a:pt x="670277" y="656438"/>
                </a:lnTo>
                <a:lnTo>
                  <a:pt x="0" y="656438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6847344" y="4653682"/>
            <a:ext cx="3024864" cy="392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9"/>
              </a:lnSpc>
            </a:pPr>
            <a:r>
              <a:rPr lang="en-US" sz="2541" b="true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Purpose of Persistence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847344" y="5277133"/>
            <a:ext cx="3155568" cy="1582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0"/>
              </a:lnSpc>
            </a:pPr>
            <a:r>
              <a:rPr lang="en-US" sz="2133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Prevents data loss between sessions and maintains persistent customer inquiry records for future access.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872304" y="8422720"/>
            <a:ext cx="7954272" cy="921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8"/>
              </a:lnSpc>
            </a:pPr>
            <a:r>
              <a:rPr lang="en-US" sz="2032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The system implements C++ file handling using ifstream and ofstream classes to read and write customer inquiry data to database.txt, ensuring data persistence across program sessions.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6370064" y="889190"/>
            <a:ext cx="1064304" cy="3956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201"/>
              </a:lnSpc>
            </a:pPr>
            <a:r>
              <a:rPr lang="en-US" sz="228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Page 08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189728" y="4681033"/>
            <a:ext cx="224064" cy="337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1"/>
              </a:lnSpc>
            </a:pPr>
            <a:r>
              <a:rPr lang="en-US" sz="2184" b="true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1.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6119136" y="4681033"/>
            <a:ext cx="224064" cy="337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1"/>
              </a:lnSpc>
            </a:pPr>
            <a:r>
              <a:rPr lang="en-US" sz="2184" b="true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2.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92000" y="-108000"/>
            <a:ext cx="18672000" cy="10503000"/>
          </a:xfrm>
          <a:custGeom>
            <a:avLst/>
            <a:gdLst/>
            <a:ahLst/>
            <a:cxnLst/>
            <a:rect r="r" b="b" t="t" l="l"/>
            <a:pathLst>
              <a:path h="10503000" w="18672000">
                <a:moveTo>
                  <a:pt x="0" y="0"/>
                </a:moveTo>
                <a:lnTo>
                  <a:pt x="18672000" y="0"/>
                </a:lnTo>
                <a:lnTo>
                  <a:pt x="18672000" y="10503000"/>
                </a:lnTo>
                <a:lnTo>
                  <a:pt x="0" y="10503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92000" y="5143500"/>
            <a:ext cx="2229697" cy="4376250"/>
          </a:xfrm>
          <a:custGeom>
            <a:avLst/>
            <a:gdLst/>
            <a:ahLst/>
            <a:cxnLst/>
            <a:rect r="r" b="b" t="t" l="l"/>
            <a:pathLst>
              <a:path h="4376250" w="2229697">
                <a:moveTo>
                  <a:pt x="0" y="0"/>
                </a:moveTo>
                <a:lnTo>
                  <a:pt x="2229697" y="0"/>
                </a:lnTo>
                <a:lnTo>
                  <a:pt x="2229697" y="4376250"/>
                </a:lnTo>
                <a:lnTo>
                  <a:pt x="0" y="43762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469169" y="5143500"/>
            <a:ext cx="2010831" cy="4376250"/>
          </a:xfrm>
          <a:custGeom>
            <a:avLst/>
            <a:gdLst/>
            <a:ahLst/>
            <a:cxnLst/>
            <a:rect r="r" b="b" t="t" l="l"/>
            <a:pathLst>
              <a:path h="4376250" w="2010831">
                <a:moveTo>
                  <a:pt x="0" y="0"/>
                </a:moveTo>
                <a:lnTo>
                  <a:pt x="2010831" y="0"/>
                </a:lnTo>
                <a:lnTo>
                  <a:pt x="2010831" y="4376250"/>
                </a:lnTo>
                <a:lnTo>
                  <a:pt x="0" y="43762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921143" y="9082125"/>
            <a:ext cx="2010831" cy="1312875"/>
          </a:xfrm>
          <a:custGeom>
            <a:avLst/>
            <a:gdLst/>
            <a:ahLst/>
            <a:cxnLst/>
            <a:rect r="r" b="b" t="t" l="l"/>
            <a:pathLst>
              <a:path h="1312875" w="2010831">
                <a:moveTo>
                  <a:pt x="0" y="0"/>
                </a:moveTo>
                <a:lnTo>
                  <a:pt x="2010831" y="0"/>
                </a:lnTo>
                <a:lnTo>
                  <a:pt x="2010831" y="1312875"/>
                </a:lnTo>
                <a:lnTo>
                  <a:pt x="0" y="13128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920580" y="1861312"/>
            <a:ext cx="902822" cy="1094063"/>
          </a:xfrm>
          <a:custGeom>
            <a:avLst/>
            <a:gdLst/>
            <a:ahLst/>
            <a:cxnLst/>
            <a:rect r="r" b="b" t="t" l="l"/>
            <a:pathLst>
              <a:path h="1094063" w="902822">
                <a:moveTo>
                  <a:pt x="0" y="0"/>
                </a:moveTo>
                <a:lnTo>
                  <a:pt x="902822" y="0"/>
                </a:lnTo>
                <a:lnTo>
                  <a:pt x="902822" y="1094063"/>
                </a:lnTo>
                <a:lnTo>
                  <a:pt x="0" y="109406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920580" y="3393000"/>
            <a:ext cx="1121688" cy="1094063"/>
          </a:xfrm>
          <a:custGeom>
            <a:avLst/>
            <a:gdLst/>
            <a:ahLst/>
            <a:cxnLst/>
            <a:rect r="r" b="b" t="t" l="l"/>
            <a:pathLst>
              <a:path h="1094063" w="1121688">
                <a:moveTo>
                  <a:pt x="0" y="0"/>
                </a:moveTo>
                <a:lnTo>
                  <a:pt x="1121688" y="0"/>
                </a:lnTo>
                <a:lnTo>
                  <a:pt x="1121688" y="1094062"/>
                </a:lnTo>
                <a:lnTo>
                  <a:pt x="0" y="109406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031437" y="4049437"/>
            <a:ext cx="1121688" cy="875250"/>
          </a:xfrm>
          <a:custGeom>
            <a:avLst/>
            <a:gdLst/>
            <a:ahLst/>
            <a:cxnLst/>
            <a:rect r="r" b="b" t="t" l="l"/>
            <a:pathLst>
              <a:path h="875250" w="1121688">
                <a:moveTo>
                  <a:pt x="0" y="0"/>
                </a:moveTo>
                <a:lnTo>
                  <a:pt x="1121688" y="0"/>
                </a:lnTo>
                <a:lnTo>
                  <a:pt x="1121688" y="875251"/>
                </a:lnTo>
                <a:lnTo>
                  <a:pt x="0" y="87525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699429" y="8206875"/>
            <a:ext cx="670277" cy="656437"/>
          </a:xfrm>
          <a:custGeom>
            <a:avLst/>
            <a:gdLst/>
            <a:ahLst/>
            <a:cxnLst/>
            <a:rect r="r" b="b" t="t" l="l"/>
            <a:pathLst>
              <a:path h="656437" w="670277">
                <a:moveTo>
                  <a:pt x="0" y="0"/>
                </a:moveTo>
                <a:lnTo>
                  <a:pt x="670276" y="0"/>
                </a:lnTo>
                <a:lnTo>
                  <a:pt x="670276" y="656437"/>
                </a:lnTo>
                <a:lnTo>
                  <a:pt x="0" y="65643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7139446" y="9082125"/>
            <a:ext cx="902822" cy="875250"/>
          </a:xfrm>
          <a:custGeom>
            <a:avLst/>
            <a:gdLst/>
            <a:ahLst/>
            <a:cxnLst/>
            <a:rect r="r" b="b" t="t" l="l"/>
            <a:pathLst>
              <a:path h="875250" w="902822">
                <a:moveTo>
                  <a:pt x="0" y="0"/>
                </a:moveTo>
                <a:lnTo>
                  <a:pt x="902822" y="0"/>
                </a:lnTo>
                <a:lnTo>
                  <a:pt x="902822" y="875250"/>
                </a:lnTo>
                <a:lnTo>
                  <a:pt x="0" y="87525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3583437" y="767250"/>
            <a:ext cx="451411" cy="656438"/>
          </a:xfrm>
          <a:custGeom>
            <a:avLst/>
            <a:gdLst/>
            <a:ahLst/>
            <a:cxnLst/>
            <a:rect r="r" b="b" t="t" l="l"/>
            <a:pathLst>
              <a:path h="656438" w="451411">
                <a:moveTo>
                  <a:pt x="0" y="0"/>
                </a:moveTo>
                <a:lnTo>
                  <a:pt x="451411" y="0"/>
                </a:lnTo>
                <a:lnTo>
                  <a:pt x="451411" y="656437"/>
                </a:lnTo>
                <a:lnTo>
                  <a:pt x="0" y="65643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588032" y="399847"/>
            <a:ext cx="10568352" cy="2192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51"/>
              </a:lnSpc>
            </a:pPr>
            <a:r>
              <a:rPr lang="en-US" sz="12822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INPUT VALIDATION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890880" y="2126651"/>
            <a:ext cx="6833952" cy="22045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22"/>
              </a:lnSpc>
            </a:pPr>
            <a:r>
              <a:rPr lang="en-US" sz="12873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&amp; SECURITY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916009" y="2080125"/>
            <a:ext cx="7564554" cy="6345563"/>
          </a:xfrm>
          <a:custGeom>
            <a:avLst/>
            <a:gdLst/>
            <a:ahLst/>
            <a:cxnLst/>
            <a:rect r="r" b="b" t="t" l="l"/>
            <a:pathLst>
              <a:path h="6345563" w="7564554">
                <a:moveTo>
                  <a:pt x="0" y="0"/>
                </a:moveTo>
                <a:lnTo>
                  <a:pt x="7564554" y="0"/>
                </a:lnTo>
                <a:lnTo>
                  <a:pt x="7564554" y="6345563"/>
                </a:lnTo>
                <a:lnTo>
                  <a:pt x="0" y="634556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9356026" y="4487062"/>
            <a:ext cx="8234831" cy="1969313"/>
          </a:xfrm>
          <a:custGeom>
            <a:avLst/>
            <a:gdLst/>
            <a:ahLst/>
            <a:cxnLst/>
            <a:rect r="r" b="b" t="t" l="l"/>
            <a:pathLst>
              <a:path h="1969313" w="8234831">
                <a:moveTo>
                  <a:pt x="0" y="0"/>
                </a:moveTo>
                <a:lnTo>
                  <a:pt x="8234831" y="0"/>
                </a:lnTo>
                <a:lnTo>
                  <a:pt x="8234831" y="1969313"/>
                </a:lnTo>
                <a:lnTo>
                  <a:pt x="0" y="1969313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9588571" y="4924688"/>
            <a:ext cx="1121688" cy="875250"/>
          </a:xfrm>
          <a:custGeom>
            <a:avLst/>
            <a:gdLst/>
            <a:ahLst/>
            <a:cxnLst/>
            <a:rect r="r" b="b" t="t" l="l"/>
            <a:pathLst>
              <a:path h="875250" w="1121688">
                <a:moveTo>
                  <a:pt x="0" y="0"/>
                </a:moveTo>
                <a:lnTo>
                  <a:pt x="1121688" y="0"/>
                </a:lnTo>
                <a:lnTo>
                  <a:pt x="1121688" y="875250"/>
                </a:lnTo>
                <a:lnTo>
                  <a:pt x="0" y="87525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0077600" y="5019521"/>
            <a:ext cx="242736" cy="729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80"/>
              </a:lnSpc>
            </a:pPr>
            <a:r>
              <a:rPr lang="en-US" sz="4271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1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861824" y="5229870"/>
            <a:ext cx="5172144" cy="869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5"/>
              </a:lnSpc>
            </a:pPr>
            <a:r>
              <a:rPr lang="en-US" sz="1828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Prevents empty name/email inputs, blocks invalid menu selections, and implements defensive programming to avoid system crashes.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9356026" y="6237563"/>
            <a:ext cx="8234831" cy="1969313"/>
          </a:xfrm>
          <a:custGeom>
            <a:avLst/>
            <a:gdLst/>
            <a:ahLst/>
            <a:cxnLst/>
            <a:rect r="r" b="b" t="t" l="l"/>
            <a:pathLst>
              <a:path h="1969313" w="8234831">
                <a:moveTo>
                  <a:pt x="0" y="0"/>
                </a:moveTo>
                <a:lnTo>
                  <a:pt x="8234831" y="0"/>
                </a:lnTo>
                <a:lnTo>
                  <a:pt x="8234831" y="1969312"/>
                </a:lnTo>
                <a:lnTo>
                  <a:pt x="0" y="1969312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9588571" y="6675188"/>
            <a:ext cx="1121688" cy="1094063"/>
          </a:xfrm>
          <a:custGeom>
            <a:avLst/>
            <a:gdLst/>
            <a:ahLst/>
            <a:cxnLst/>
            <a:rect r="r" b="b" t="t" l="l"/>
            <a:pathLst>
              <a:path h="1094063" w="1121688">
                <a:moveTo>
                  <a:pt x="0" y="0"/>
                </a:moveTo>
                <a:lnTo>
                  <a:pt x="1121688" y="0"/>
                </a:lnTo>
                <a:lnTo>
                  <a:pt x="1121688" y="1094062"/>
                </a:lnTo>
                <a:lnTo>
                  <a:pt x="0" y="1094062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0861824" y="6507905"/>
            <a:ext cx="2259312" cy="363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6"/>
              </a:lnSpc>
            </a:pPr>
            <a:r>
              <a:rPr lang="en-US" sz="2083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Security Measures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861824" y="7120410"/>
            <a:ext cx="5340192" cy="869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5"/>
              </a:lnSpc>
            </a:pPr>
            <a:r>
              <a:rPr lang="en-US" sz="1828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Admin password authentication protects restricted features.Default password: admin123. Only authorized users can access admin functions.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928224" y="8412279"/>
            <a:ext cx="7450128" cy="869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5"/>
              </a:lnSpc>
            </a:pPr>
            <a:r>
              <a:rPr lang="en-US" sz="1828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Data integrity and system security are ensured through comprehensive input validation and password-protected admin access, preventing unauthorized operations and maintaining reliable system performance.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72304" y="899949"/>
            <a:ext cx="2576736" cy="362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87"/>
              </a:lnSpc>
            </a:pPr>
            <a:r>
              <a:rPr lang="en-US" sz="213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She4Tech AI Chatbot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6426080" y="899949"/>
            <a:ext cx="1008288" cy="362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87"/>
              </a:lnSpc>
            </a:pPr>
            <a:r>
              <a:rPr lang="en-US" sz="213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Page 09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861824" y="4617365"/>
            <a:ext cx="1904544" cy="363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6"/>
              </a:lnSpc>
            </a:pPr>
            <a:r>
              <a:rPr lang="en-US" sz="2083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Input Validation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058928" y="6878552"/>
            <a:ext cx="317424" cy="729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80"/>
              </a:lnSpc>
            </a:pPr>
            <a:r>
              <a:rPr lang="en-US" sz="4271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2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92000" y="-108000"/>
            <a:ext cx="18672000" cy="10503000"/>
          </a:xfrm>
          <a:custGeom>
            <a:avLst/>
            <a:gdLst/>
            <a:ahLst/>
            <a:cxnLst/>
            <a:rect r="r" b="b" t="t" l="l"/>
            <a:pathLst>
              <a:path h="10503000" w="18672000">
                <a:moveTo>
                  <a:pt x="0" y="0"/>
                </a:moveTo>
                <a:lnTo>
                  <a:pt x="18672000" y="0"/>
                </a:lnTo>
                <a:lnTo>
                  <a:pt x="18672000" y="10503000"/>
                </a:lnTo>
                <a:lnTo>
                  <a:pt x="0" y="10503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92000" y="4705875"/>
            <a:ext cx="2229697" cy="4813875"/>
          </a:xfrm>
          <a:custGeom>
            <a:avLst/>
            <a:gdLst/>
            <a:ahLst/>
            <a:cxnLst/>
            <a:rect r="r" b="b" t="t" l="l"/>
            <a:pathLst>
              <a:path h="4813875" w="2229697">
                <a:moveTo>
                  <a:pt x="0" y="0"/>
                </a:moveTo>
                <a:lnTo>
                  <a:pt x="2229697" y="0"/>
                </a:lnTo>
                <a:lnTo>
                  <a:pt x="2229697" y="4813875"/>
                </a:lnTo>
                <a:lnTo>
                  <a:pt x="0" y="48138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469169" y="4924688"/>
            <a:ext cx="2010831" cy="4595063"/>
          </a:xfrm>
          <a:custGeom>
            <a:avLst/>
            <a:gdLst/>
            <a:ahLst/>
            <a:cxnLst/>
            <a:rect r="r" b="b" t="t" l="l"/>
            <a:pathLst>
              <a:path h="4595063" w="2010831">
                <a:moveTo>
                  <a:pt x="0" y="0"/>
                </a:moveTo>
                <a:lnTo>
                  <a:pt x="2010831" y="0"/>
                </a:lnTo>
                <a:lnTo>
                  <a:pt x="2010831" y="4595062"/>
                </a:lnTo>
                <a:lnTo>
                  <a:pt x="0" y="45950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6866" y="6675188"/>
            <a:ext cx="9561705" cy="3719813"/>
          </a:xfrm>
          <a:custGeom>
            <a:avLst/>
            <a:gdLst/>
            <a:ahLst/>
            <a:cxnLst/>
            <a:rect r="r" b="b" t="t" l="l"/>
            <a:pathLst>
              <a:path h="3719813" w="9561705">
                <a:moveTo>
                  <a:pt x="0" y="0"/>
                </a:moveTo>
                <a:lnTo>
                  <a:pt x="9561705" y="0"/>
                </a:lnTo>
                <a:lnTo>
                  <a:pt x="9561705" y="3719812"/>
                </a:lnTo>
                <a:lnTo>
                  <a:pt x="0" y="371981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16009" y="1861312"/>
            <a:ext cx="8015965" cy="2625750"/>
          </a:xfrm>
          <a:custGeom>
            <a:avLst/>
            <a:gdLst/>
            <a:ahLst/>
            <a:cxnLst/>
            <a:rect r="r" b="b" t="t" l="l"/>
            <a:pathLst>
              <a:path h="2625750" w="8015965">
                <a:moveTo>
                  <a:pt x="0" y="0"/>
                </a:moveTo>
                <a:lnTo>
                  <a:pt x="8015965" y="0"/>
                </a:lnTo>
                <a:lnTo>
                  <a:pt x="8015965" y="2625750"/>
                </a:lnTo>
                <a:lnTo>
                  <a:pt x="0" y="26257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53202" y="2517750"/>
            <a:ext cx="6808495" cy="6460723"/>
          </a:xfrm>
          <a:custGeom>
            <a:avLst/>
            <a:gdLst/>
            <a:ahLst/>
            <a:cxnLst/>
            <a:rect r="r" b="b" t="t" l="l"/>
            <a:pathLst>
              <a:path h="6460723" w="6808495">
                <a:moveTo>
                  <a:pt x="0" y="0"/>
                </a:moveTo>
                <a:lnTo>
                  <a:pt x="6808495" y="0"/>
                </a:lnTo>
                <a:lnTo>
                  <a:pt x="6808495" y="6460723"/>
                </a:lnTo>
                <a:lnTo>
                  <a:pt x="0" y="646072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246593" y="4964095"/>
            <a:ext cx="7086127" cy="1988603"/>
          </a:xfrm>
          <a:custGeom>
            <a:avLst/>
            <a:gdLst/>
            <a:ahLst/>
            <a:cxnLst/>
            <a:rect r="r" b="b" t="t" l="l"/>
            <a:pathLst>
              <a:path h="1988603" w="7086127">
                <a:moveTo>
                  <a:pt x="0" y="0"/>
                </a:moveTo>
                <a:lnTo>
                  <a:pt x="7086127" y="0"/>
                </a:lnTo>
                <a:lnTo>
                  <a:pt x="7086127" y="1988602"/>
                </a:lnTo>
                <a:lnTo>
                  <a:pt x="0" y="198860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150087" y="7377691"/>
            <a:ext cx="7332009" cy="2314806"/>
          </a:xfrm>
          <a:custGeom>
            <a:avLst/>
            <a:gdLst/>
            <a:ahLst/>
            <a:cxnLst/>
            <a:rect r="r" b="b" t="t" l="l"/>
            <a:pathLst>
              <a:path h="2314806" w="7332009">
                <a:moveTo>
                  <a:pt x="0" y="0"/>
                </a:moveTo>
                <a:lnTo>
                  <a:pt x="7332009" y="0"/>
                </a:lnTo>
                <a:lnTo>
                  <a:pt x="7332009" y="2314806"/>
                </a:lnTo>
                <a:lnTo>
                  <a:pt x="0" y="231480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906063" y="4364503"/>
            <a:ext cx="6101025" cy="3187785"/>
          </a:xfrm>
          <a:custGeom>
            <a:avLst/>
            <a:gdLst/>
            <a:ahLst/>
            <a:cxnLst/>
            <a:rect r="r" b="b" t="t" l="l"/>
            <a:pathLst>
              <a:path h="3187785" w="6101025">
                <a:moveTo>
                  <a:pt x="0" y="0"/>
                </a:moveTo>
                <a:lnTo>
                  <a:pt x="6101024" y="0"/>
                </a:lnTo>
                <a:lnTo>
                  <a:pt x="6101024" y="3187786"/>
                </a:lnTo>
                <a:lnTo>
                  <a:pt x="0" y="318778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026303" y="5326363"/>
            <a:ext cx="5296472" cy="1348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3"/>
              </a:lnSpc>
            </a:pPr>
            <a:r>
              <a:rPr lang="en-US" b="true" sz="2079" u="none">
                <a:solidFill>
                  <a:srgbClr val="FFFFFF"/>
                </a:solidFill>
                <a:latin typeface="Ubuntu Bold"/>
                <a:ea typeface="Ubuntu Bold"/>
                <a:cs typeface="Ubuntu Bold"/>
                <a:sym typeface="Ubuntu Bold"/>
              </a:rPr>
              <a:t>Main Menu &amp; Chatbot Conversation</a:t>
            </a:r>
          </a:p>
          <a:p>
            <a:pPr algn="l">
              <a:lnSpc>
                <a:spcPts val="2703"/>
              </a:lnSpc>
            </a:pPr>
            <a:r>
              <a:rPr lang="en-US" sz="2079" u="none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rPr>
              <a:t>Displays the interactive menu and AI-style chatbot responses with typing animation effect.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026303" y="7868431"/>
            <a:ext cx="5743879" cy="1389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7"/>
              </a:lnSpc>
            </a:pPr>
            <a:r>
              <a:rPr lang="en-US" b="true" sz="2159" u="none">
                <a:solidFill>
                  <a:srgbClr val="FFFFFF"/>
                </a:solidFill>
                <a:latin typeface="Ubuntu Bold"/>
                <a:ea typeface="Ubuntu Bold"/>
                <a:cs typeface="Ubuntu Bold"/>
                <a:sym typeface="Ubuntu Bold"/>
              </a:rPr>
              <a:t>Inquiry List &amp; Summary Report</a:t>
            </a:r>
          </a:p>
          <a:p>
            <a:pPr algn="l">
              <a:lnSpc>
                <a:spcPts val="2807"/>
              </a:lnSpc>
            </a:pPr>
            <a:r>
              <a:rPr lang="en-US" sz="2159" u="none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rPr>
              <a:t>Shows stored customer inquiries and generated summary reports with file handling output.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72304" y="899949"/>
            <a:ext cx="2576736" cy="362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87"/>
              </a:lnSpc>
            </a:pPr>
            <a:r>
              <a:rPr lang="en-US" sz="2133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rPr>
              <a:t>She4Tech AI Chatbot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482096" y="895969"/>
            <a:ext cx="952272" cy="361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44"/>
              </a:lnSpc>
            </a:pPr>
            <a:r>
              <a:rPr lang="en-US" sz="2032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rPr>
              <a:t>Page 10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528262" y="1240482"/>
            <a:ext cx="7804458" cy="30174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150"/>
              </a:lnSpc>
            </a:pPr>
            <a:r>
              <a:rPr lang="en-US" sz="8678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SAMPLE PROGRAM OUTPUT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92000" y="-108000"/>
            <a:ext cx="18672000" cy="10503000"/>
          </a:xfrm>
          <a:custGeom>
            <a:avLst/>
            <a:gdLst/>
            <a:ahLst/>
            <a:cxnLst/>
            <a:rect r="r" b="b" t="t" l="l"/>
            <a:pathLst>
              <a:path h="10503000" w="18672000">
                <a:moveTo>
                  <a:pt x="0" y="0"/>
                </a:moveTo>
                <a:lnTo>
                  <a:pt x="18672000" y="0"/>
                </a:lnTo>
                <a:lnTo>
                  <a:pt x="18672000" y="10503000"/>
                </a:lnTo>
                <a:lnTo>
                  <a:pt x="0" y="10503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577741" y="-108000"/>
            <a:ext cx="4240527" cy="1750500"/>
          </a:xfrm>
          <a:custGeom>
            <a:avLst/>
            <a:gdLst/>
            <a:ahLst/>
            <a:cxnLst/>
            <a:rect r="r" b="b" t="t" l="l"/>
            <a:pathLst>
              <a:path h="1750500" w="4240527">
                <a:moveTo>
                  <a:pt x="0" y="0"/>
                </a:moveTo>
                <a:lnTo>
                  <a:pt x="4240527" y="0"/>
                </a:lnTo>
                <a:lnTo>
                  <a:pt x="4240527" y="1750500"/>
                </a:lnTo>
                <a:lnTo>
                  <a:pt x="0" y="17505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810286" y="8644500"/>
            <a:ext cx="3337705" cy="1750500"/>
          </a:xfrm>
          <a:custGeom>
            <a:avLst/>
            <a:gdLst/>
            <a:ahLst/>
            <a:cxnLst/>
            <a:rect r="r" b="b" t="t" l="l"/>
            <a:pathLst>
              <a:path h="1750500" w="3337705">
                <a:moveTo>
                  <a:pt x="0" y="0"/>
                </a:moveTo>
                <a:lnTo>
                  <a:pt x="3337705" y="0"/>
                </a:lnTo>
                <a:lnTo>
                  <a:pt x="3337705" y="1750500"/>
                </a:lnTo>
                <a:lnTo>
                  <a:pt x="0" y="17505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701714" y="3393000"/>
            <a:ext cx="1778286" cy="4376250"/>
          </a:xfrm>
          <a:custGeom>
            <a:avLst/>
            <a:gdLst/>
            <a:ahLst/>
            <a:cxnLst/>
            <a:rect r="r" b="b" t="t" l="l"/>
            <a:pathLst>
              <a:path h="4376250" w="1778286">
                <a:moveTo>
                  <a:pt x="0" y="0"/>
                </a:moveTo>
                <a:lnTo>
                  <a:pt x="1778286" y="0"/>
                </a:lnTo>
                <a:lnTo>
                  <a:pt x="1778286" y="4376250"/>
                </a:lnTo>
                <a:lnTo>
                  <a:pt x="0" y="43762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032000" y="548437"/>
            <a:ext cx="1121688" cy="1094063"/>
          </a:xfrm>
          <a:custGeom>
            <a:avLst/>
            <a:gdLst/>
            <a:ahLst/>
            <a:cxnLst/>
            <a:rect r="r" b="b" t="t" l="l"/>
            <a:pathLst>
              <a:path h="1094063" w="1121688">
                <a:moveTo>
                  <a:pt x="0" y="0"/>
                </a:moveTo>
                <a:lnTo>
                  <a:pt x="1121688" y="0"/>
                </a:lnTo>
                <a:lnTo>
                  <a:pt x="1121688" y="1094063"/>
                </a:lnTo>
                <a:lnTo>
                  <a:pt x="0" y="109406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029152" y="1204875"/>
            <a:ext cx="670277" cy="656438"/>
          </a:xfrm>
          <a:custGeom>
            <a:avLst/>
            <a:gdLst/>
            <a:ahLst/>
            <a:cxnLst/>
            <a:rect r="r" b="b" t="t" l="l"/>
            <a:pathLst>
              <a:path h="656438" w="670277">
                <a:moveTo>
                  <a:pt x="0" y="0"/>
                </a:moveTo>
                <a:lnTo>
                  <a:pt x="670277" y="0"/>
                </a:lnTo>
                <a:lnTo>
                  <a:pt x="670277" y="656437"/>
                </a:lnTo>
                <a:lnTo>
                  <a:pt x="0" y="65643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801741" y="767250"/>
            <a:ext cx="1121688" cy="1094063"/>
          </a:xfrm>
          <a:custGeom>
            <a:avLst/>
            <a:gdLst/>
            <a:ahLst/>
            <a:cxnLst/>
            <a:rect r="r" b="b" t="t" l="l"/>
            <a:pathLst>
              <a:path h="1094063" w="1121688">
                <a:moveTo>
                  <a:pt x="0" y="0"/>
                </a:moveTo>
                <a:lnTo>
                  <a:pt x="1121688" y="0"/>
                </a:lnTo>
                <a:lnTo>
                  <a:pt x="1121688" y="1094062"/>
                </a:lnTo>
                <a:lnTo>
                  <a:pt x="0" y="109406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6866" y="4268250"/>
            <a:ext cx="902822" cy="1094063"/>
          </a:xfrm>
          <a:custGeom>
            <a:avLst/>
            <a:gdLst/>
            <a:ahLst/>
            <a:cxnLst/>
            <a:rect r="r" b="b" t="t" l="l"/>
            <a:pathLst>
              <a:path h="1094063" w="902822">
                <a:moveTo>
                  <a:pt x="0" y="0"/>
                </a:moveTo>
                <a:lnTo>
                  <a:pt x="902822" y="0"/>
                </a:lnTo>
                <a:lnTo>
                  <a:pt x="902822" y="1094062"/>
                </a:lnTo>
                <a:lnTo>
                  <a:pt x="0" y="109406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361160" y="4049437"/>
            <a:ext cx="1121688" cy="1094063"/>
          </a:xfrm>
          <a:custGeom>
            <a:avLst/>
            <a:gdLst/>
            <a:ahLst/>
            <a:cxnLst/>
            <a:rect r="r" b="b" t="t" l="l"/>
            <a:pathLst>
              <a:path h="1094063" w="1121688">
                <a:moveTo>
                  <a:pt x="0" y="0"/>
                </a:moveTo>
                <a:lnTo>
                  <a:pt x="1121688" y="0"/>
                </a:lnTo>
                <a:lnTo>
                  <a:pt x="1121688" y="1094063"/>
                </a:lnTo>
                <a:lnTo>
                  <a:pt x="0" y="109406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6250866" y="9300938"/>
            <a:ext cx="902822" cy="875250"/>
          </a:xfrm>
          <a:custGeom>
            <a:avLst/>
            <a:gdLst/>
            <a:ahLst/>
            <a:cxnLst/>
            <a:rect r="r" b="b" t="t" l="l"/>
            <a:pathLst>
              <a:path h="875250" w="902822">
                <a:moveTo>
                  <a:pt x="0" y="0"/>
                </a:moveTo>
                <a:lnTo>
                  <a:pt x="902822" y="0"/>
                </a:lnTo>
                <a:lnTo>
                  <a:pt x="902822" y="875250"/>
                </a:lnTo>
                <a:lnTo>
                  <a:pt x="0" y="87525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7590857" y="1204875"/>
            <a:ext cx="889143" cy="1312875"/>
          </a:xfrm>
          <a:custGeom>
            <a:avLst/>
            <a:gdLst/>
            <a:ahLst/>
            <a:cxnLst/>
            <a:rect r="r" b="b" t="t" l="l"/>
            <a:pathLst>
              <a:path h="1312875" w="889143">
                <a:moveTo>
                  <a:pt x="0" y="0"/>
                </a:moveTo>
                <a:lnTo>
                  <a:pt x="889143" y="0"/>
                </a:lnTo>
                <a:lnTo>
                  <a:pt x="889143" y="1312875"/>
                </a:lnTo>
                <a:lnTo>
                  <a:pt x="0" y="131287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7358312" y="9300938"/>
            <a:ext cx="1121688" cy="1094063"/>
          </a:xfrm>
          <a:custGeom>
            <a:avLst/>
            <a:gdLst/>
            <a:ahLst/>
            <a:cxnLst/>
            <a:rect r="r" b="b" t="t" l="l"/>
            <a:pathLst>
              <a:path h="1094063" w="1121688">
                <a:moveTo>
                  <a:pt x="0" y="0"/>
                </a:moveTo>
                <a:lnTo>
                  <a:pt x="1121688" y="0"/>
                </a:lnTo>
                <a:lnTo>
                  <a:pt x="1121688" y="1094062"/>
                </a:lnTo>
                <a:lnTo>
                  <a:pt x="0" y="1094062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9588571" y="8863313"/>
            <a:ext cx="451411" cy="656437"/>
          </a:xfrm>
          <a:custGeom>
            <a:avLst/>
            <a:gdLst/>
            <a:ahLst/>
            <a:cxnLst/>
            <a:rect r="r" b="b" t="t" l="l"/>
            <a:pathLst>
              <a:path h="656437" w="451411">
                <a:moveTo>
                  <a:pt x="0" y="0"/>
                </a:moveTo>
                <a:lnTo>
                  <a:pt x="451411" y="0"/>
                </a:lnTo>
                <a:lnTo>
                  <a:pt x="451411" y="656437"/>
                </a:lnTo>
                <a:lnTo>
                  <a:pt x="0" y="656437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872304" y="1730961"/>
            <a:ext cx="8415335" cy="3307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357"/>
              </a:lnSpc>
            </a:pPr>
            <a:r>
              <a:rPr lang="en-US" sz="9541" b="true">
                <a:solidFill>
                  <a:srgbClr val="FFFFFF"/>
                </a:solidFill>
                <a:latin typeface="Antonio Ultra-Bold"/>
                <a:ea typeface="Antonio Ultra-Bold"/>
                <a:cs typeface="Antonio Ultra-Bold"/>
                <a:sym typeface="Antonio Ultra-Bold"/>
              </a:rPr>
              <a:t>CHALLENGES ENCOUNTERED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814277" y="2297362"/>
            <a:ext cx="6498608" cy="2628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6"/>
              </a:lnSpc>
            </a:pPr>
            <a:r>
              <a:rPr lang="en-US" sz="291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Throughout development, several technical hurdles required creative problem-solving and iterative refinement to overcome, strengthening both the system and programming skills.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916009" y="5362312"/>
            <a:ext cx="6894277" cy="2188125"/>
          </a:xfrm>
          <a:custGeom>
            <a:avLst/>
            <a:gdLst/>
            <a:ahLst/>
            <a:cxnLst/>
            <a:rect r="r" b="b" t="t" l="l"/>
            <a:pathLst>
              <a:path h="2188125" w="6894277">
                <a:moveTo>
                  <a:pt x="0" y="0"/>
                </a:moveTo>
                <a:lnTo>
                  <a:pt x="6894277" y="0"/>
                </a:lnTo>
                <a:lnTo>
                  <a:pt x="6894277" y="2188126"/>
                </a:lnTo>
                <a:lnTo>
                  <a:pt x="0" y="2188126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464598" y="6018750"/>
            <a:ext cx="1121688" cy="875250"/>
          </a:xfrm>
          <a:custGeom>
            <a:avLst/>
            <a:gdLst/>
            <a:ahLst/>
            <a:cxnLst/>
            <a:rect r="r" b="b" t="t" l="l"/>
            <a:pathLst>
              <a:path h="875250" w="1121688">
                <a:moveTo>
                  <a:pt x="0" y="0"/>
                </a:moveTo>
                <a:lnTo>
                  <a:pt x="1121688" y="0"/>
                </a:lnTo>
                <a:lnTo>
                  <a:pt x="1121688" y="875250"/>
                </a:lnTo>
                <a:lnTo>
                  <a:pt x="0" y="87525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805904" y="6337382"/>
            <a:ext cx="5358864" cy="880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6"/>
              </a:lnSpc>
            </a:pPr>
            <a:r>
              <a:rPr lang="en-US" sz="193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Structuring code with proper classes, inheritance concepts, and maintaining clean separation of concerns required careful planning.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916009" y="7550438"/>
            <a:ext cx="6894277" cy="2188125"/>
          </a:xfrm>
          <a:custGeom>
            <a:avLst/>
            <a:gdLst/>
            <a:ahLst/>
            <a:cxnLst/>
            <a:rect r="r" b="b" t="t" l="l"/>
            <a:pathLst>
              <a:path h="2188125" w="6894277">
                <a:moveTo>
                  <a:pt x="0" y="0"/>
                </a:moveTo>
                <a:lnTo>
                  <a:pt x="6894277" y="0"/>
                </a:lnTo>
                <a:lnTo>
                  <a:pt x="6894277" y="2188125"/>
                </a:lnTo>
                <a:lnTo>
                  <a:pt x="0" y="2188125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464598" y="8206875"/>
            <a:ext cx="1121688" cy="875250"/>
          </a:xfrm>
          <a:custGeom>
            <a:avLst/>
            <a:gdLst/>
            <a:ahLst/>
            <a:cxnLst/>
            <a:rect r="r" b="b" t="t" l="l"/>
            <a:pathLst>
              <a:path h="875250" w="1121688">
                <a:moveTo>
                  <a:pt x="0" y="0"/>
                </a:moveTo>
                <a:lnTo>
                  <a:pt x="1121688" y="0"/>
                </a:lnTo>
                <a:lnTo>
                  <a:pt x="1121688" y="875250"/>
                </a:lnTo>
                <a:lnTo>
                  <a:pt x="0" y="875250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805904" y="7858676"/>
            <a:ext cx="2726112" cy="306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6"/>
              </a:lnSpc>
            </a:pPr>
            <a:r>
              <a:rPr lang="en-US" sz="1930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Input Validation Issues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805904" y="8487557"/>
            <a:ext cx="5750976" cy="779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2"/>
              </a:lnSpc>
            </a:pPr>
            <a:r>
              <a:rPr lang="en-US" sz="172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Applied defensive programming techniques with try-catch blocks and validation checks to prevent crashes from unexpected inputs.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10915446" y="5362312"/>
            <a:ext cx="6675411" cy="2188125"/>
          </a:xfrm>
          <a:custGeom>
            <a:avLst/>
            <a:gdLst/>
            <a:ahLst/>
            <a:cxnLst/>
            <a:rect r="r" b="b" t="t" l="l"/>
            <a:pathLst>
              <a:path h="2188125" w="6675411">
                <a:moveTo>
                  <a:pt x="0" y="0"/>
                </a:moveTo>
                <a:lnTo>
                  <a:pt x="6675411" y="0"/>
                </a:lnTo>
                <a:lnTo>
                  <a:pt x="6675411" y="2188126"/>
                </a:lnTo>
                <a:lnTo>
                  <a:pt x="0" y="2188126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0477714" y="6018750"/>
            <a:ext cx="889143" cy="875250"/>
          </a:xfrm>
          <a:custGeom>
            <a:avLst/>
            <a:gdLst/>
            <a:ahLst/>
            <a:cxnLst/>
            <a:rect r="r" b="b" t="t" l="l"/>
            <a:pathLst>
              <a:path h="875250" w="889143">
                <a:moveTo>
                  <a:pt x="0" y="0"/>
                </a:moveTo>
                <a:lnTo>
                  <a:pt x="889143" y="0"/>
                </a:lnTo>
                <a:lnTo>
                  <a:pt x="889143" y="875250"/>
                </a:lnTo>
                <a:lnTo>
                  <a:pt x="0" y="875250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11646048" y="6316869"/>
            <a:ext cx="5750976" cy="921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8"/>
              </a:lnSpc>
            </a:pPr>
            <a:r>
              <a:rPr lang="en-US" sz="203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Working with vectors for dynamic data storage and implementing file I/O operations for data persistence posed initial difficulties.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10915446" y="7550438"/>
            <a:ext cx="6675411" cy="2188125"/>
          </a:xfrm>
          <a:custGeom>
            <a:avLst/>
            <a:gdLst/>
            <a:ahLst/>
            <a:cxnLst/>
            <a:rect r="r" b="b" t="t" l="l"/>
            <a:pathLst>
              <a:path h="2188125" w="6675411">
                <a:moveTo>
                  <a:pt x="0" y="0"/>
                </a:moveTo>
                <a:lnTo>
                  <a:pt x="6675411" y="0"/>
                </a:lnTo>
                <a:lnTo>
                  <a:pt x="6675411" y="2188125"/>
                </a:lnTo>
                <a:lnTo>
                  <a:pt x="0" y="2188125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0477714" y="8206875"/>
            <a:ext cx="889143" cy="875250"/>
          </a:xfrm>
          <a:custGeom>
            <a:avLst/>
            <a:gdLst/>
            <a:ahLst/>
            <a:cxnLst/>
            <a:rect r="r" b="b" t="t" l="l"/>
            <a:pathLst>
              <a:path h="875250" w="889143">
                <a:moveTo>
                  <a:pt x="0" y="0"/>
                </a:moveTo>
                <a:lnTo>
                  <a:pt x="889143" y="0"/>
                </a:lnTo>
                <a:lnTo>
                  <a:pt x="889143" y="875250"/>
                </a:lnTo>
                <a:lnTo>
                  <a:pt x="0" y="875250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11646048" y="7858676"/>
            <a:ext cx="4107840" cy="306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6"/>
              </a:lnSpc>
            </a:pPr>
            <a:r>
              <a:rPr lang="en-US" sz="1930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Organizing Multi-Function System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646048" y="8406966"/>
            <a:ext cx="5750976" cy="921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8"/>
              </a:lnSpc>
            </a:pPr>
            <a:r>
              <a:rPr lang="en-US" sz="203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Coordinating multiple functions, menus, and features into a cohesive system demanded modular design and clear code organization.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872304" y="899949"/>
            <a:ext cx="2576736" cy="362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87"/>
              </a:lnSpc>
            </a:pPr>
            <a:r>
              <a:rPr lang="en-US" sz="213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She4Tech AI Chatbot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6519440" y="899949"/>
            <a:ext cx="1008288" cy="362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87"/>
              </a:lnSpc>
            </a:pPr>
            <a:r>
              <a:rPr lang="en-US" sz="213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Page 11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805904" y="5768579"/>
            <a:ext cx="3472992" cy="306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6"/>
              </a:lnSpc>
            </a:pPr>
            <a:r>
              <a:rPr lang="en-US" sz="1930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Implementing OOP Structure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1646048" y="5768579"/>
            <a:ext cx="4051824" cy="306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6"/>
              </a:lnSpc>
            </a:pPr>
            <a:r>
              <a:rPr lang="en-US" sz="1930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Managing Vectors &amp; File Handling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40352" y="6206554"/>
            <a:ext cx="186720" cy="569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97"/>
              </a:lnSpc>
            </a:pPr>
            <a:r>
              <a:rPr lang="en-US" sz="3355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1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0843152" y="6206554"/>
            <a:ext cx="186720" cy="569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97"/>
              </a:lnSpc>
            </a:pPr>
            <a:r>
              <a:rPr lang="en-US" sz="3355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2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84336" y="8296651"/>
            <a:ext cx="186720" cy="569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97"/>
              </a:lnSpc>
            </a:pPr>
            <a:r>
              <a:rPr lang="en-US" sz="3355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3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0843152" y="8296651"/>
            <a:ext cx="186720" cy="569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97"/>
              </a:lnSpc>
            </a:pPr>
            <a:r>
              <a:rPr lang="en-US" sz="3355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4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92000" y="-108000"/>
            <a:ext cx="18672000" cy="10503000"/>
          </a:xfrm>
          <a:custGeom>
            <a:avLst/>
            <a:gdLst/>
            <a:ahLst/>
            <a:cxnLst/>
            <a:rect r="r" b="b" t="t" l="l"/>
            <a:pathLst>
              <a:path h="10503000" w="18672000">
                <a:moveTo>
                  <a:pt x="0" y="0"/>
                </a:moveTo>
                <a:lnTo>
                  <a:pt x="18672000" y="0"/>
                </a:lnTo>
                <a:lnTo>
                  <a:pt x="18672000" y="10503000"/>
                </a:lnTo>
                <a:lnTo>
                  <a:pt x="0" y="10503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92000" y="4924688"/>
            <a:ext cx="2010831" cy="4595063"/>
          </a:xfrm>
          <a:custGeom>
            <a:avLst/>
            <a:gdLst/>
            <a:ahLst/>
            <a:cxnLst/>
            <a:rect r="r" b="b" t="t" l="l"/>
            <a:pathLst>
              <a:path h="4595063" w="2010831">
                <a:moveTo>
                  <a:pt x="0" y="0"/>
                </a:moveTo>
                <a:lnTo>
                  <a:pt x="2010831" y="0"/>
                </a:lnTo>
                <a:lnTo>
                  <a:pt x="2010831" y="4595062"/>
                </a:lnTo>
                <a:lnTo>
                  <a:pt x="0" y="45950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139446" y="3830625"/>
            <a:ext cx="1340554" cy="2625750"/>
          </a:xfrm>
          <a:custGeom>
            <a:avLst/>
            <a:gdLst/>
            <a:ahLst/>
            <a:cxnLst/>
            <a:rect r="r" b="b" t="t" l="l"/>
            <a:pathLst>
              <a:path h="2625750" w="1340554">
                <a:moveTo>
                  <a:pt x="0" y="0"/>
                </a:moveTo>
                <a:lnTo>
                  <a:pt x="1340554" y="0"/>
                </a:lnTo>
                <a:lnTo>
                  <a:pt x="1340554" y="2625750"/>
                </a:lnTo>
                <a:lnTo>
                  <a:pt x="0" y="26257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803808" y="891963"/>
            <a:ext cx="10811088" cy="23162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429"/>
              </a:lnSpc>
            </a:pPr>
            <a:r>
              <a:rPr lang="en-US" b="true" sz="19286">
                <a:solidFill>
                  <a:srgbClr val="FFFFFF"/>
                </a:solidFill>
                <a:latin typeface="Laqonic Bold"/>
                <a:ea typeface="Laqonic Bold"/>
                <a:cs typeface="Laqonic Bold"/>
                <a:sym typeface="Laqonic Bold"/>
              </a:rPr>
              <a:t>CONCLUSION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72304" y="940304"/>
            <a:ext cx="2053920" cy="6886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4"/>
              </a:lnSpc>
            </a:pPr>
            <a:r>
              <a:rPr lang="en-US" sz="223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She4Tech AI Chatbot System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353741" y="3393000"/>
            <a:ext cx="7126822" cy="7002000"/>
          </a:xfrm>
          <a:custGeom>
            <a:avLst/>
            <a:gdLst/>
            <a:ahLst/>
            <a:cxnLst/>
            <a:rect r="r" b="b" t="t" l="l"/>
            <a:pathLst>
              <a:path h="7002000" w="7126822">
                <a:moveTo>
                  <a:pt x="0" y="0"/>
                </a:moveTo>
                <a:lnTo>
                  <a:pt x="7126822" y="0"/>
                </a:lnTo>
                <a:lnTo>
                  <a:pt x="7126822" y="7002000"/>
                </a:lnTo>
                <a:lnTo>
                  <a:pt x="0" y="70020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140009" y="3174187"/>
            <a:ext cx="1121688" cy="1312875"/>
          </a:xfrm>
          <a:custGeom>
            <a:avLst/>
            <a:gdLst/>
            <a:ahLst/>
            <a:cxnLst/>
            <a:rect r="r" b="b" t="t" l="l"/>
            <a:pathLst>
              <a:path h="1312875" w="1121688">
                <a:moveTo>
                  <a:pt x="0" y="0"/>
                </a:moveTo>
                <a:lnTo>
                  <a:pt x="1121688" y="0"/>
                </a:lnTo>
                <a:lnTo>
                  <a:pt x="1121688" y="1312875"/>
                </a:lnTo>
                <a:lnTo>
                  <a:pt x="0" y="13128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53741" y="6456375"/>
            <a:ext cx="902822" cy="875250"/>
          </a:xfrm>
          <a:custGeom>
            <a:avLst/>
            <a:gdLst/>
            <a:ahLst/>
            <a:cxnLst/>
            <a:rect r="r" b="b" t="t" l="l"/>
            <a:pathLst>
              <a:path h="875250" w="902822">
                <a:moveTo>
                  <a:pt x="0" y="0"/>
                </a:moveTo>
                <a:lnTo>
                  <a:pt x="902822" y="0"/>
                </a:lnTo>
                <a:lnTo>
                  <a:pt x="902822" y="875250"/>
                </a:lnTo>
                <a:lnTo>
                  <a:pt x="0" y="8752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749792" y="2407777"/>
            <a:ext cx="6894277" cy="2188125"/>
          </a:xfrm>
          <a:custGeom>
            <a:avLst/>
            <a:gdLst/>
            <a:ahLst/>
            <a:cxnLst/>
            <a:rect r="r" b="b" t="t" l="l"/>
            <a:pathLst>
              <a:path h="2188125" w="6894277">
                <a:moveTo>
                  <a:pt x="0" y="0"/>
                </a:moveTo>
                <a:lnTo>
                  <a:pt x="6894277" y="0"/>
                </a:lnTo>
                <a:lnTo>
                  <a:pt x="6894277" y="2188125"/>
                </a:lnTo>
                <a:lnTo>
                  <a:pt x="0" y="218812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0245169" y="2736562"/>
            <a:ext cx="1121688" cy="1312875"/>
          </a:xfrm>
          <a:custGeom>
            <a:avLst/>
            <a:gdLst/>
            <a:ahLst/>
            <a:cxnLst/>
            <a:rect r="r" b="b" t="t" l="l"/>
            <a:pathLst>
              <a:path h="1312875" w="1121688">
                <a:moveTo>
                  <a:pt x="0" y="0"/>
                </a:moveTo>
                <a:lnTo>
                  <a:pt x="1121688" y="0"/>
                </a:lnTo>
                <a:lnTo>
                  <a:pt x="1121688" y="1312875"/>
                </a:lnTo>
                <a:lnTo>
                  <a:pt x="0" y="131287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1817413" y="2699377"/>
            <a:ext cx="4201200" cy="370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0"/>
              </a:lnSpc>
            </a:pPr>
            <a:r>
              <a:rPr lang="en-US" sz="3050" b="true">
                <a:solidFill>
                  <a:srgbClr val="FFFFFF"/>
                </a:solidFill>
                <a:latin typeface="Laqonic Bold"/>
                <a:ea typeface="Laqonic Bold"/>
                <a:cs typeface="Laqonic Bold"/>
                <a:sym typeface="Laqonic Bold"/>
              </a:rPr>
              <a:t>OOP CONCEPTS DEMONSTRATED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556518" y="3248473"/>
            <a:ext cx="5638944" cy="897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1777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SUCCESSFULLY DEMONSTRATED ENCAPSULATION, CLASSES, CONSTRUCTORS, AND METHODS THROUGH THE INQUIRY AND CHATBOTMANAGER CLASSES.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0245169" y="4488686"/>
            <a:ext cx="7345688" cy="2188125"/>
            <a:chOff x="0" y="0"/>
            <a:chExt cx="9794251" cy="29175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601881" y="0"/>
              <a:ext cx="9192369" cy="2917500"/>
            </a:xfrm>
            <a:custGeom>
              <a:avLst/>
              <a:gdLst/>
              <a:ahLst/>
              <a:cxnLst/>
              <a:rect r="r" b="b" t="t" l="l"/>
              <a:pathLst>
                <a:path h="2917500" w="9192369">
                  <a:moveTo>
                    <a:pt x="0" y="0"/>
                  </a:moveTo>
                  <a:lnTo>
                    <a:pt x="9192370" y="0"/>
                  </a:lnTo>
                  <a:lnTo>
                    <a:pt x="9192370" y="2917500"/>
                  </a:lnTo>
                  <a:lnTo>
                    <a:pt x="0" y="2917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583500"/>
              <a:ext cx="1495584" cy="1750500"/>
            </a:xfrm>
            <a:custGeom>
              <a:avLst/>
              <a:gdLst/>
              <a:ahLst/>
              <a:cxnLst/>
              <a:rect r="r" b="b" t="t" l="l"/>
              <a:pathLst>
                <a:path h="1750500" w="1495584">
                  <a:moveTo>
                    <a:pt x="0" y="0"/>
                  </a:moveTo>
                  <a:lnTo>
                    <a:pt x="1495584" y="0"/>
                  </a:lnTo>
                  <a:lnTo>
                    <a:pt x="1495584" y="1750500"/>
                  </a:lnTo>
                  <a:lnTo>
                    <a:pt x="0" y="1750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 rot="0">
              <a:off x="598142" y="1168101"/>
              <a:ext cx="448128" cy="8130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865"/>
                </a:lnSpc>
              </a:pPr>
              <a:r>
                <a:rPr lang="en-US" b="true" sz="4831">
                  <a:solidFill>
                    <a:srgbClr val="00FFFF"/>
                  </a:solidFill>
                  <a:latin typeface="Laqonic Bold"/>
                  <a:ea typeface="Laqonic Bold"/>
                  <a:cs typeface="Laqonic Bold"/>
                  <a:sym typeface="Laqonic Bold"/>
                </a:rPr>
                <a:t>2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1842942" y="465809"/>
              <a:ext cx="5850560" cy="5029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17"/>
                </a:lnSpc>
              </a:pPr>
              <a:r>
                <a:rPr lang="en-US" sz="2897" b="true">
                  <a:solidFill>
                    <a:srgbClr val="FFFFFF"/>
                  </a:solidFill>
                  <a:latin typeface="Laqonic Bold"/>
                  <a:ea typeface="Laqonic Bold"/>
                  <a:cs typeface="Laqonic Bold"/>
                  <a:sym typeface="Laqonic Bold"/>
                </a:rPr>
                <a:t>EFFECTIVE INQUIRY MANAGEMENT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1612534" y="5374413"/>
            <a:ext cx="5526912" cy="897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1777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THE SYSTEM EFFECTIVELY STORES, RETRIEVES, AND MANAGES CUSTOMER INQUIRIES WITH SEARCH CAPABILITIES AND SUMMARY REPORT GENERATION.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10696580" y="6618300"/>
            <a:ext cx="6894277" cy="2188125"/>
          </a:xfrm>
          <a:custGeom>
            <a:avLst/>
            <a:gdLst/>
            <a:ahLst/>
            <a:cxnLst/>
            <a:rect r="r" b="b" t="t" l="l"/>
            <a:pathLst>
              <a:path h="2188125" w="6894277">
                <a:moveTo>
                  <a:pt x="0" y="0"/>
                </a:moveTo>
                <a:lnTo>
                  <a:pt x="6894277" y="0"/>
                </a:lnTo>
                <a:lnTo>
                  <a:pt x="6894277" y="2188125"/>
                </a:lnTo>
                <a:lnTo>
                  <a:pt x="0" y="218812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0245169" y="7055925"/>
            <a:ext cx="1121688" cy="1312875"/>
          </a:xfrm>
          <a:custGeom>
            <a:avLst/>
            <a:gdLst/>
            <a:ahLst/>
            <a:cxnLst/>
            <a:rect r="r" b="b" t="t" l="l"/>
            <a:pathLst>
              <a:path h="1312875" w="1121688">
                <a:moveTo>
                  <a:pt x="0" y="0"/>
                </a:moveTo>
                <a:lnTo>
                  <a:pt x="1121688" y="0"/>
                </a:lnTo>
                <a:lnTo>
                  <a:pt x="1121688" y="1312875"/>
                </a:lnTo>
                <a:lnTo>
                  <a:pt x="0" y="131287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0696580" y="7519912"/>
            <a:ext cx="336096" cy="571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65"/>
              </a:lnSpc>
            </a:pPr>
            <a:r>
              <a:rPr lang="en-US" b="true" sz="4831">
                <a:solidFill>
                  <a:srgbClr val="00FFFF"/>
                </a:solidFill>
                <a:latin typeface="Laqonic Bold"/>
                <a:ea typeface="Laqonic Bold"/>
                <a:cs typeface="Laqonic Bold"/>
                <a:sym typeface="Laqonic Bold"/>
              </a:rPr>
              <a:t>3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392928" y="6973448"/>
            <a:ext cx="3435648" cy="358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7"/>
              </a:lnSpc>
            </a:pPr>
            <a:r>
              <a:rPr lang="en-US" sz="2897" b="true">
                <a:solidFill>
                  <a:srgbClr val="FFFFFF"/>
                </a:solidFill>
                <a:latin typeface="Laqonic Bold"/>
                <a:ea typeface="Laqonic Bold"/>
                <a:cs typeface="Laqonic Bold"/>
                <a:sym typeface="Laqonic Bold"/>
              </a:rPr>
              <a:t>CHATBOT &amp; FILE HANDLING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612534" y="7368364"/>
            <a:ext cx="5526912" cy="1260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7"/>
              </a:lnSpc>
            </a:pPr>
            <a:r>
              <a:rPr lang="en-US" sz="187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INTERACTIVE CHATBOT FUNCTIONALITY ENABLES AUTOMATED RESPONSES, WHILE FILE HANDLING ENSURES DATA PERSISTENCE AND RELIABLE RECORD MANAGEMENT.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565168" y="9045075"/>
            <a:ext cx="6497856" cy="787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4"/>
              </a:lnSpc>
            </a:pPr>
            <a:r>
              <a:rPr lang="en-US" sz="157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THE SHE4TECH AI CHATBOT SYSTEM PROVIDES A PRACTICAL AUTOMATED SOLUTION FOR CUSTOMER INTERACTION, SHOWCASING HOW OOP PRINCIPLES CAN BE APPLIED TO REAL-WORLD PROBLEMS.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6407408" y="926024"/>
            <a:ext cx="1082976" cy="36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58"/>
              </a:lnSpc>
            </a:pPr>
            <a:r>
              <a:rPr lang="en-US" sz="228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Page 12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749792" y="3183355"/>
            <a:ext cx="224064" cy="571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65"/>
              </a:lnSpc>
            </a:pPr>
            <a:r>
              <a:rPr lang="en-US" b="true" sz="4831">
                <a:solidFill>
                  <a:srgbClr val="00FFFF"/>
                </a:solidFill>
                <a:latin typeface="Laqonic Bold"/>
                <a:ea typeface="Laqonic Bold"/>
                <a:cs typeface="Laqonic Bold"/>
                <a:sym typeface="Laqonic Bold"/>
              </a:rPr>
              <a:t>1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4674815"/>
            <a:ext cx="6120935" cy="1420361"/>
            <a:chOff x="0" y="0"/>
            <a:chExt cx="8161247" cy="1893815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691862"/>
              <a:ext cx="545915" cy="545915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940"/>
                  </a:lnSpc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1220654" y="695198"/>
              <a:ext cx="6940593" cy="11986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425"/>
                </a:lnSpc>
                <a:spcBef>
                  <a:spcPct val="0"/>
                </a:spcBef>
              </a:pPr>
              <a:r>
                <a:rPr lang="en-US" sz="1732">
                  <a:solidFill>
                    <a:srgbClr val="FFFFFF"/>
                  </a:solidFill>
                  <a:latin typeface="Inter 2"/>
                  <a:ea typeface="Inter 2"/>
                  <a:cs typeface="Inter 2"/>
                  <a:sym typeface="Inter 2"/>
                </a:rPr>
                <a:t>Database integration for improved data management, smarter AI responses using machine learning, and online customer support capabilities.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1220654" y="-38100"/>
              <a:ext cx="6940593" cy="4623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7"/>
                </a:lnSpc>
                <a:spcBef>
                  <a:spcPct val="0"/>
                </a:spcBef>
              </a:pPr>
              <a:r>
                <a:rPr lang="en-US" b="true" sz="2098">
                  <a:solidFill>
                    <a:srgbClr val="FFFFFF"/>
                  </a:solidFill>
                  <a:latin typeface="Inter 2 Medium"/>
                  <a:ea typeface="Inter 2 Medium"/>
                  <a:cs typeface="Inter 2 Medium"/>
                  <a:sym typeface="Inter 2 Medium"/>
                </a:rPr>
                <a:t>Technical Enhancements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28700" y="6517930"/>
            <a:ext cx="6120935" cy="1420361"/>
            <a:chOff x="0" y="0"/>
            <a:chExt cx="8161247" cy="1893815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691862"/>
              <a:ext cx="545915" cy="545915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940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1220654" y="695198"/>
              <a:ext cx="6940593" cy="11986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425"/>
                </a:lnSpc>
                <a:spcBef>
                  <a:spcPct val="0"/>
                </a:spcBef>
              </a:pPr>
              <a:r>
                <a:rPr lang="en-US" sz="1732">
                  <a:solidFill>
                    <a:srgbClr val="FFFFFF"/>
                  </a:solidFill>
                  <a:latin typeface="Inter 2"/>
                  <a:ea typeface="Inter 2"/>
                  <a:cs typeface="Inter 2"/>
                  <a:sym typeface="Inter 2"/>
                </a:rPr>
                <a:t>GUI version development for better user experience and multi-user access capability for collaborative support teams.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1220654" y="-38100"/>
              <a:ext cx="6940593" cy="4623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7"/>
                </a:lnSpc>
                <a:spcBef>
                  <a:spcPct val="0"/>
                </a:spcBef>
              </a:pPr>
              <a:r>
                <a:rPr lang="en-US" b="true" sz="2098">
                  <a:solidFill>
                    <a:srgbClr val="FFFFFF"/>
                  </a:solidFill>
                  <a:latin typeface="Inter 2 Medium"/>
                  <a:ea typeface="Inter 2 Medium"/>
                  <a:cs typeface="Inter 2 Medium"/>
                  <a:sym typeface="Inter 2 Medium"/>
                </a:rPr>
                <a:t>User Experience Goals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0347093" y="3201036"/>
            <a:ext cx="7099781" cy="5304842"/>
          </a:xfrm>
          <a:custGeom>
            <a:avLst/>
            <a:gdLst/>
            <a:ahLst/>
            <a:cxnLst/>
            <a:rect r="r" b="b" t="t" l="l"/>
            <a:pathLst>
              <a:path h="5304842" w="7099781">
                <a:moveTo>
                  <a:pt x="0" y="0"/>
                </a:moveTo>
                <a:lnTo>
                  <a:pt x="7099780" y="0"/>
                </a:lnTo>
                <a:lnTo>
                  <a:pt x="7099780" y="5304842"/>
                </a:lnTo>
                <a:lnTo>
                  <a:pt x="0" y="53048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028700" y="3094653"/>
            <a:ext cx="7778911" cy="118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799"/>
              </a:lnSpc>
              <a:spcBef>
                <a:spcPct val="0"/>
              </a:spcBef>
            </a:pPr>
            <a:r>
              <a:rPr lang="en-US" sz="6999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FUTURE IMPROVEMENTS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8322945"/>
            <a:ext cx="7778911" cy="908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25"/>
              </a:lnSpc>
              <a:spcBef>
                <a:spcPct val="0"/>
              </a:spcBef>
            </a:pPr>
            <a:r>
              <a:rPr lang="en-US" sz="1732">
                <a:solidFill>
                  <a:srgbClr val="FFFFFF"/>
                </a:solidFill>
                <a:latin typeface="Inter 2"/>
                <a:ea typeface="Inter 2"/>
                <a:cs typeface="Inter 2"/>
                <a:sym typeface="Inter 2"/>
              </a:rPr>
              <a:t>The She4Tech AI Chatbot System has significant potential for growth including GUI development, database integration, smarter AI, online support, and multi-user access.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8700" y="993209"/>
            <a:ext cx="2537172" cy="727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37"/>
              </a:lnSpc>
              <a:spcBef>
                <a:spcPct val="0"/>
              </a:spcBef>
            </a:pPr>
            <a:r>
              <a:rPr lang="en-US" b="true" sz="2098">
                <a:solidFill>
                  <a:srgbClr val="FFFFFF"/>
                </a:solidFill>
                <a:latin typeface="Inter 2 Medium"/>
                <a:ea typeface="Inter 2 Medium"/>
                <a:cs typeface="Inter 2 Medium"/>
                <a:sym typeface="Inter 2 Medium"/>
              </a:rPr>
              <a:t>She4Tech AI Chatbot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5930403" y="990600"/>
            <a:ext cx="1328897" cy="356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937"/>
              </a:lnSpc>
              <a:spcBef>
                <a:spcPct val="0"/>
              </a:spcBef>
            </a:pPr>
            <a:r>
              <a:rPr lang="en-US" b="true" sz="2098">
                <a:solidFill>
                  <a:srgbClr val="FFFFFF"/>
                </a:solidFill>
                <a:latin typeface="Inter 2 Medium"/>
                <a:ea typeface="Inter 2 Medium"/>
                <a:cs typeface="Inter 2 Medium"/>
                <a:sym typeface="Inter 2 Medium"/>
              </a:rPr>
              <a:t>Page 13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7086600" y="-2381926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true" flipV="true" rot="0">
            <a:off x="16804621" y="1980228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82104" y="2276342"/>
            <a:ext cx="7947648" cy="6646221"/>
          </a:xfrm>
          <a:custGeom>
            <a:avLst/>
            <a:gdLst/>
            <a:ahLst/>
            <a:cxnLst/>
            <a:rect r="r" b="b" t="t" l="l"/>
            <a:pathLst>
              <a:path h="6646221" w="7947648">
                <a:moveTo>
                  <a:pt x="0" y="0"/>
                </a:moveTo>
                <a:lnTo>
                  <a:pt x="7947648" y="0"/>
                </a:lnTo>
                <a:lnTo>
                  <a:pt x="7947648" y="6646221"/>
                </a:lnTo>
                <a:lnTo>
                  <a:pt x="0" y="66462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993209"/>
            <a:ext cx="2537172" cy="727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37"/>
              </a:lnSpc>
              <a:spcBef>
                <a:spcPct val="0"/>
              </a:spcBef>
            </a:pPr>
            <a:r>
              <a:rPr lang="en-US" b="true" sz="2098">
                <a:solidFill>
                  <a:srgbClr val="FFFFFF"/>
                </a:solidFill>
                <a:latin typeface="Inter 2 Medium"/>
                <a:ea typeface="Inter 2 Medium"/>
                <a:cs typeface="Inter 2 Medium"/>
                <a:sym typeface="Inter 2 Medium"/>
              </a:rPr>
              <a:t>She4Tech AI Chatbot System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5930403" y="990600"/>
            <a:ext cx="1328897" cy="356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937"/>
              </a:lnSpc>
              <a:spcBef>
                <a:spcPct val="0"/>
              </a:spcBef>
            </a:pPr>
            <a:r>
              <a:rPr lang="en-US" b="true" sz="2098">
                <a:solidFill>
                  <a:srgbClr val="FFFFFF"/>
                </a:solidFill>
                <a:latin typeface="Inter 2 Medium"/>
                <a:ea typeface="Inter 2 Medium"/>
                <a:cs typeface="Inter 2 Medium"/>
                <a:sym typeface="Inter 2 Medium"/>
              </a:rPr>
              <a:t>Page 14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557341" y="2686472"/>
            <a:ext cx="9512624" cy="1666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3665"/>
              </a:lnSpc>
              <a:spcBef>
                <a:spcPct val="0"/>
              </a:spcBef>
            </a:pPr>
            <a:r>
              <a:rPr lang="en-US" sz="976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THANK YOU!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083769" y="4634927"/>
            <a:ext cx="6689648" cy="2958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22"/>
              </a:lnSpc>
              <a:spcBef>
                <a:spcPct val="0"/>
              </a:spcBef>
            </a:pPr>
          </a:p>
          <a:p>
            <a:pPr algn="ctr" marL="0" indent="0" lvl="0">
              <a:lnSpc>
                <a:spcPts val="4782"/>
              </a:lnSpc>
              <a:spcBef>
                <a:spcPct val="0"/>
              </a:spcBef>
            </a:pPr>
            <a:r>
              <a:rPr lang="en-US" b="true" sz="3416">
                <a:solidFill>
                  <a:srgbClr val="FFFFFF"/>
                </a:solidFill>
                <a:latin typeface="Inter 2 Bold"/>
                <a:ea typeface="Inter 2 Bold"/>
                <a:cs typeface="Inter 2 Bold"/>
                <a:sym typeface="Inter 2 Bold"/>
              </a:rPr>
              <a:t>"Technology is best when it brings people together."</a:t>
            </a:r>
          </a:p>
          <a:p>
            <a:pPr algn="l" marL="0" indent="0" lvl="0">
              <a:lnSpc>
                <a:spcPts val="2822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2822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2822"/>
              </a:lnSpc>
              <a:spcBef>
                <a:spcPct val="0"/>
              </a:spcBef>
            </a:pPr>
            <a:r>
              <a:rPr lang="en-US" sz="2016">
                <a:solidFill>
                  <a:srgbClr val="FFFFFF"/>
                </a:solidFill>
                <a:latin typeface="Inter 2"/>
                <a:ea typeface="Inter 2"/>
                <a:cs typeface="Inter 2"/>
                <a:sym typeface="Inter 2"/>
              </a:rPr>
              <a:t>Thank you for your attention. I welcome any questions or discussions about the She4Tech AI Chatbot System.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8026369" y="-23148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true" rot="0">
            <a:off x="15529220" y="759361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DAHJgFfGQsA</dc:identifier>
  <dcterms:modified xsi:type="dcterms:W3CDTF">2011-08-01T06:04:30Z</dcterms:modified>
  <cp:revision>1</cp:revision>
  <dc:title>She4Tech AI Chatbot Defense Presentation Slides</dc:title>
</cp:coreProperties>
</file>